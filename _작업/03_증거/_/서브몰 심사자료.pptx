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741"/>
    <a:srgbClr val="C0392B"/>
    <a:srgbClr val="1F734E"/>
    <a:srgbClr val="B0711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52" autoAdjust="0"/>
  </p:normalViewPr>
  <p:slideViewPr>
    <p:cSldViewPr snapToGrid="0" snapToObjects="1">
      <p:cViewPr>
        <p:scale>
          <a:sx n="100" d="100"/>
          <a:sy n="100" d="100"/>
        </p:scale>
        <p:origin x="9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F8214-9432-4B9E-A6A3-D069A9445C63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3F419-A7F7-4301-AF19-DDA265D44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95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3F419-A7F7-4301-AF19-DDA265D44EF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018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44805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371" y="2770632"/>
            <a:ext cx="7315200" cy="1471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PG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가맹점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
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서브몰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·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카드사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심사</a:t>
            </a:r>
            <a:r>
              <a:rPr sz="4000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sz="4000" dirty="0" err="1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안내</a:t>
            </a:r>
            <a:endParaRPr sz="4000" dirty="0">
              <a:solidFill>
                <a:srgbClr val="FFFF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5371" y="45720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신규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가맹점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서류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및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캡처</a:t>
            </a:r>
            <a:r>
              <a:rPr sz="140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가이드</a:t>
            </a:r>
            <a:endParaRPr sz="1400" b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회신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159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본 PPT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파일에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작성·캡처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첨부하여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메일로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회신해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주시기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바랍니다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2514600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📌  본 PPT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파일을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다운로드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후 각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슬라이드에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작성·이미지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첨부하여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회신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별도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워드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한글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파일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불가</a:t>
            </a:r>
            <a:r>
              <a:rPr sz="11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20040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[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필수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요청사항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] —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미반영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반송</a:t>
            </a:r>
            <a:r>
              <a:rPr sz="13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처리</a:t>
            </a:r>
            <a:endParaRPr sz="1300" b="1" dirty="0">
              <a:solidFill>
                <a:srgbClr val="B0711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192" y="3566160"/>
            <a:ext cx="3678936" cy="457200"/>
          </a:xfrm>
          <a:prstGeom prst="rect">
            <a:avLst/>
          </a:prstGeom>
          <a:solidFill>
            <a:srgbClr val="B07110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09621"/>
            <a:ext cx="276783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홈페이지</a:t>
            </a:r>
            <a:r>
              <a:rPr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사업자</a:t>
            </a:r>
            <a:r>
              <a:rPr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기재</a:t>
            </a:r>
            <a:endParaRPr sz="115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3192" y="4023360"/>
            <a:ext cx="3678936" cy="2286000"/>
          </a:xfrm>
          <a:prstGeom prst="rect">
            <a:avLst/>
          </a:prstGeom>
          <a:solidFill>
            <a:srgbClr val="FFF7DC"/>
          </a:solidFill>
          <a:ln w="635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4160520"/>
            <a:ext cx="33588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홈페이지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하단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(Footer)에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사업자등록증과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동일하게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아래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5가지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1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050" b="1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1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기재</a:t>
            </a:r>
            <a:endParaRPr sz="1050" b="1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사업자등록번호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상호명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사업장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주소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대표자명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유선전화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72" y="5989320"/>
            <a:ext cx="3358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※ 미기재 시 심사 반송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7389" y="3566160"/>
            <a:ext cx="3676555" cy="457200"/>
          </a:xfrm>
          <a:prstGeom prst="rect">
            <a:avLst/>
          </a:prstGeom>
          <a:solidFill>
            <a:srgbClr val="B07110"/>
          </a:solidFill>
          <a:ln w="1270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5008" y="4023360"/>
            <a:ext cx="3678936" cy="2286000"/>
          </a:xfrm>
          <a:prstGeom prst="rect">
            <a:avLst/>
          </a:prstGeom>
          <a:solidFill>
            <a:srgbClr val="FFF7DC"/>
          </a:solidFill>
          <a:ln w="635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7888" y="4160520"/>
            <a:ext cx="3358896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단계의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결제창은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반드시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「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하나카드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결제창」으로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(→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슬라이드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9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참조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7888" y="5989320"/>
            <a:ext cx="3358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※ KPN PG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하나카드</a:t>
            </a:r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950" b="1" dirty="0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50" b="1" dirty="0" err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화면</a:t>
            </a:r>
            <a:endParaRPr sz="950" b="1" dirty="0">
              <a:solidFill>
                <a:srgbClr val="C0392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16824" y="3566160"/>
            <a:ext cx="3678936" cy="457200"/>
          </a:xfrm>
          <a:prstGeom prst="rect">
            <a:avLst/>
          </a:prstGeom>
          <a:solidFill>
            <a:srgbClr val="B07110"/>
          </a:solidFill>
          <a:ln w="1270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16824" y="4023360"/>
            <a:ext cx="3678936" cy="2286000"/>
          </a:xfrm>
          <a:prstGeom prst="rect">
            <a:avLst/>
          </a:prstGeom>
          <a:solidFill>
            <a:srgbClr val="FFF7DC"/>
          </a:solidFill>
          <a:ln w="6350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9704" y="4160520"/>
            <a:ext cx="3358896" cy="1068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신청한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결제수단별로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프로세스를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각각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별도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캡처하여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인증창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필수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) →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등록화면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필수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99704" y="5989320"/>
            <a:ext cx="33588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※ 슬라이드 7~8 참조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2CC6E0-4291-57F5-A7C4-B5CC0F561042}"/>
              </a:ext>
            </a:extLst>
          </p:cNvPr>
          <p:cNvSpPr txBox="1"/>
          <p:nvPr/>
        </p:nvSpPr>
        <p:spPr>
          <a:xfrm>
            <a:off x="4437888" y="3709621"/>
            <a:ext cx="276783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</a:t>
            </a:r>
            <a:r>
              <a:rPr lang="ko-KR" altLang="en-US" sz="11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lang="ko-KR" altLang="en-US"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캡처</a:t>
            </a:r>
            <a:endParaRPr sz="115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B0F4C2-DC38-4D3E-982E-15F3F1B2DDC7}"/>
              </a:ext>
            </a:extLst>
          </p:cNvPr>
          <p:cNvSpPr txBox="1"/>
          <p:nvPr/>
        </p:nvSpPr>
        <p:spPr>
          <a:xfrm>
            <a:off x="8299704" y="3709621"/>
            <a:ext cx="276783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</a:t>
            </a:r>
            <a:r>
              <a:rPr lang="ko-KR" altLang="en-US" sz="11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결제수단 다중 신청 시 별도 첨부</a:t>
            </a:r>
          </a:p>
        </p:txBody>
      </p:sp>
      <p:pic>
        <p:nvPicPr>
          <p:cNvPr id="30" name="Picture 3" descr="logo_navy_horizontal.png">
            <a:extLst>
              <a:ext uri="{FF2B5EF4-FFF2-40B4-BE49-F238E27FC236}">
                <a16:creationId xmlns:a16="http://schemas.microsoft.com/office/drawing/2014/main" id="{6E9EA7AB-0308-13B8-A02D-F993861DC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1) 업체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71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74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>
              <a:lnSpc>
                <a:spcPts val="2900"/>
              </a:lnSpc>
            </a:pPr>
            <a:r>
              <a:rPr dirty="0" err="1"/>
              <a:t>연동할</a:t>
            </a:r>
            <a:r>
              <a:rPr dirty="0"/>
              <a:t> </a:t>
            </a:r>
            <a:r>
              <a:rPr dirty="0" err="1"/>
              <a:t>웹·APP</a:t>
            </a:r>
            <a:r>
              <a:rPr dirty="0"/>
              <a:t> 내 </a:t>
            </a:r>
            <a:r>
              <a:rPr dirty="0" err="1"/>
              <a:t>사업자등록번호·대표명·유선번호·주소</a:t>
            </a:r>
            <a:r>
              <a:rPr dirty="0"/>
              <a:t> 등
</a:t>
            </a:r>
            <a:r>
              <a:rPr dirty="0" err="1"/>
              <a:t>사업자등록증상의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일치해야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0604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업체명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260604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3192" y="299008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99008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사업자</a:t>
            </a:r>
            <a:r>
              <a:rPr sz="105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등록번호</a:t>
            </a:r>
            <a:endParaRPr sz="105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30552" y="299008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" y="337413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3741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대표명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552" y="337413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3192" y="375818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75818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대표자 생년월일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0552" y="375818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3192" y="4142232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담당자명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0552" y="4142232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3192" y="452628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52628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담당자 이메일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30552" y="452628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3192" y="491032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91032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담당자 연락처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30552" y="491032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3192" y="529437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고객센터 번호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30552" y="529437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93192" y="567842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67842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서비스명(사이트명)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0552" y="567842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40196" y="260604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9924" y="2606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서비스 소개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77556" y="260604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40196" y="299008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9924" y="299008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사이트 URL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77556" y="299008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0196" y="337413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49924" y="337413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TEST 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77556" y="337413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40196" y="375818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49924" y="375818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TEST PW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77556" y="375818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40196" y="4142232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49924" y="414223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서비스 개시(예정)일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77556" y="4142232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0196" y="4526280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49924" y="452628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판매 품목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77556" y="4526280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40196" y="4910328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49924" y="491032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월 예상 매출액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77556" y="4910328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40196" y="5294376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49924" y="5294376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객단가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77556" y="5294376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40196" y="5678424"/>
            <a:ext cx="1737360" cy="384048"/>
          </a:xfrm>
          <a:prstGeom prst="rect">
            <a:avLst/>
          </a:prstGeom>
          <a:solidFill>
            <a:srgbClr val="E8ECF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9924" y="5678424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77556" y="5678424"/>
            <a:ext cx="39182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3192" y="6199632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TEST ID/PW는 결제 경로 검수를 위해 반드시 제공해 주시기 바랍니다.</a:t>
            </a:r>
          </a:p>
        </p:txBody>
      </p:sp>
      <p:pic>
        <p:nvPicPr>
          <p:cNvPr id="62" name="Picture 3" descr="logo_navy_horizontal.png">
            <a:extLst>
              <a:ext uri="{FF2B5EF4-FFF2-40B4-BE49-F238E27FC236}">
                <a16:creationId xmlns:a16="http://schemas.microsoft.com/office/drawing/2014/main" id="{B2BE6E7D-026C-98BD-418F-EA029E732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2) 서비스·환불 관련 서류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06040"/>
            <a:ext cx="3617976" cy="457200"/>
          </a:xfrm>
          <a:prstGeom prst="rect">
            <a:avLst/>
          </a:prstGeom>
          <a:solidFill>
            <a:srgbClr val="0D1741"/>
          </a:solidFill>
          <a:ln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5121" y="2742307"/>
            <a:ext cx="247411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</a:t>
            </a:r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소개서</a:t>
            </a:r>
            <a:endParaRPr sz="12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192" y="3063240"/>
            <a:ext cx="3617976" cy="777240"/>
          </a:xfrm>
          <a:prstGeom prst="rect">
            <a:avLst/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3108960"/>
            <a:ext cx="334365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BM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형태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결제·정산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Process가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
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쉽게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이해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가능해야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886200"/>
            <a:ext cx="3617976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4892040"/>
            <a:ext cx="36179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이미지 / PDF 첨부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5488" y="3886200"/>
            <a:ext cx="3617976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85488" y="4892040"/>
            <a:ext cx="36179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이미지 / PDF 첨부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7784" y="3886200"/>
            <a:ext cx="3617976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7784" y="4892040"/>
            <a:ext cx="36179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이미지 / PDF 첨부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635508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사업자등록증 정보 = 사이트(앱) 표기 정보 = 홈페이지 하단 사업자 정보가 모두 일치해야 합니다.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37AFE8-C5D3-3EFF-8881-804DAA397A5F}"/>
              </a:ext>
            </a:extLst>
          </p:cNvPr>
          <p:cNvSpPr txBox="1"/>
          <p:nvPr/>
        </p:nvSpPr>
        <p:spPr>
          <a:xfrm>
            <a:off x="393192" y="795528"/>
            <a:ext cx="11402568" cy="40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D174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r>
              <a:rPr lang="en-US" altLang="ko-KR" dirty="0"/>
              <a:t>BM·</a:t>
            </a:r>
            <a:r>
              <a:rPr lang="ko-KR" altLang="en-US" dirty="0"/>
              <a:t>결제</a:t>
            </a:r>
            <a:r>
              <a:rPr lang="en-US" altLang="ko-KR" dirty="0"/>
              <a:t>·</a:t>
            </a:r>
            <a:r>
              <a:rPr lang="ko-KR" altLang="en-US" dirty="0"/>
              <a:t>정산 </a:t>
            </a:r>
            <a:r>
              <a:rPr lang="en-US" altLang="ko-KR" dirty="0"/>
              <a:t>Process</a:t>
            </a:r>
            <a:r>
              <a:rPr lang="ko-KR" altLang="en-US" dirty="0"/>
              <a:t>가 명확히 이해되도록 아래 </a:t>
            </a:r>
            <a:r>
              <a:rPr lang="en-US" altLang="ko-KR" dirty="0"/>
              <a:t>3</a:t>
            </a:r>
            <a:r>
              <a:rPr lang="ko-KR" altLang="en-US" dirty="0"/>
              <a:t>종을 모두 첨부해 주세요</a:t>
            </a:r>
            <a:r>
              <a:rPr lang="en-US" altLang="ko-KR" dirty="0"/>
              <a:t>.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8EA4D6-F2CF-3DFF-34C2-E500AAAA8827}"/>
              </a:ext>
            </a:extLst>
          </p:cNvPr>
          <p:cNvSpPr/>
          <p:nvPr/>
        </p:nvSpPr>
        <p:spPr>
          <a:xfrm>
            <a:off x="4285488" y="2606040"/>
            <a:ext cx="3617976" cy="457200"/>
          </a:xfrm>
          <a:prstGeom prst="rect">
            <a:avLst/>
          </a:prstGeom>
          <a:solidFill>
            <a:srgbClr val="0D1741"/>
          </a:solidFill>
          <a:ln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98D35C-4CE7-D713-E7D4-636C672C2B97}"/>
              </a:ext>
            </a:extLst>
          </p:cNvPr>
          <p:cNvSpPr txBox="1"/>
          <p:nvPr/>
        </p:nvSpPr>
        <p:spPr>
          <a:xfrm>
            <a:off x="4857417" y="2742307"/>
            <a:ext cx="247411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홈페이지 하단 정보</a:t>
            </a: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96577BFA-5D25-472F-0A53-5CE83353E2E8}"/>
              </a:ext>
            </a:extLst>
          </p:cNvPr>
          <p:cNvSpPr/>
          <p:nvPr/>
        </p:nvSpPr>
        <p:spPr>
          <a:xfrm>
            <a:off x="4285488" y="3063240"/>
            <a:ext cx="3617976" cy="777240"/>
          </a:xfrm>
          <a:prstGeom prst="rect">
            <a:avLst/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23CD05-F668-25A2-DDC7-60A69C3992F0}"/>
              </a:ext>
            </a:extLst>
          </p:cNvPr>
          <p:cNvSpPr txBox="1"/>
          <p:nvPr/>
        </p:nvSpPr>
        <p:spPr>
          <a:xfrm>
            <a:off x="4422648" y="3274569"/>
            <a:ext cx="3343656" cy="400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사업자등록증 상 정보와
반드시 일치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516397D-DD83-A86C-62BA-8F2512C78D5B}"/>
              </a:ext>
            </a:extLst>
          </p:cNvPr>
          <p:cNvSpPr/>
          <p:nvPr/>
        </p:nvSpPr>
        <p:spPr>
          <a:xfrm>
            <a:off x="8177784" y="2606040"/>
            <a:ext cx="3617976" cy="457200"/>
          </a:xfrm>
          <a:prstGeom prst="rect">
            <a:avLst/>
          </a:prstGeom>
          <a:solidFill>
            <a:srgbClr val="0D1741"/>
          </a:solidFill>
          <a:ln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E11BB1-5D2B-BF74-6A9B-EDEFA014BE3F}"/>
              </a:ext>
            </a:extLst>
          </p:cNvPr>
          <p:cNvSpPr txBox="1"/>
          <p:nvPr/>
        </p:nvSpPr>
        <p:spPr>
          <a:xfrm>
            <a:off x="8749713" y="2742307"/>
            <a:ext cx="247411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환불약관</a:t>
            </a: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4311F17B-3531-0C42-7007-EE594C9F1DAF}"/>
              </a:ext>
            </a:extLst>
          </p:cNvPr>
          <p:cNvSpPr/>
          <p:nvPr/>
        </p:nvSpPr>
        <p:spPr>
          <a:xfrm>
            <a:off x="8177784" y="3063240"/>
            <a:ext cx="3617976" cy="777240"/>
          </a:xfrm>
          <a:prstGeom prst="rect">
            <a:avLst/>
          </a:prstGeom>
          <a:solidFill>
            <a:srgbClr val="E8ECF4"/>
          </a:solidFill>
          <a:ln w="635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97C8BB-36C0-7717-B87E-94175E4488BE}"/>
              </a:ext>
            </a:extLst>
          </p:cNvPr>
          <p:cNvSpPr txBox="1"/>
          <p:nvPr/>
        </p:nvSpPr>
        <p:spPr>
          <a:xfrm>
            <a:off x="8314944" y="3274569"/>
            <a:ext cx="3343656" cy="400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청약철회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환불사유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처리절차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
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신청방법 </a:t>
            </a:r>
            <a:r>
              <a:rPr lang="en-US" altLang="ko-KR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05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소요기간 명시</a:t>
            </a:r>
          </a:p>
        </p:txBody>
      </p:sp>
      <p:pic>
        <p:nvPicPr>
          <p:cNvPr id="34" name="Picture 3" descr="logo_navy_horizontal.png">
            <a:extLst>
              <a:ext uri="{FF2B5EF4-FFF2-40B4-BE49-F238E27FC236}">
                <a16:creationId xmlns:a16="http://schemas.microsoft.com/office/drawing/2014/main" id="{C7309612-DCB2-8DAF-07C4-28DE2354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결제 경로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707440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ID/PW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로그인부터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완료까지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전체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흐름이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노출되어야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합니다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5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4D2E245-1A9E-675E-6F39-BE4696F24385}"/>
              </a:ext>
            </a:extLst>
          </p:cNvPr>
          <p:cNvGrpSpPr/>
          <p:nvPr/>
        </p:nvGrpSpPr>
        <p:grpSpPr>
          <a:xfrm>
            <a:off x="393192" y="2606040"/>
            <a:ext cx="2103120" cy="1024128"/>
            <a:chOff x="472287" y="2606040"/>
            <a:chExt cx="2103120" cy="1024128"/>
          </a:xfrm>
        </p:grpSpPr>
        <p:sp>
          <p:nvSpPr>
            <p:cNvPr id="7" name="Rectangle 6"/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2287" y="2990088"/>
              <a:ext cx="210312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로그인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496312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1174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6036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0898" y="2944368"/>
            <a:ext cx="21945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BFBFBF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" y="3794760"/>
            <a:ext cx="5564124" cy="45720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7688" y="3927180"/>
            <a:ext cx="5255133" cy="192360"/>
          </a:xfrm>
          <a:prstGeom prst="rect">
            <a:avLst/>
          </a:prstGeom>
          <a:noFill/>
          <a:ln>
            <a:solidFill>
              <a:srgbClr val="C0392B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잘못된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인정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불가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" y="4251960"/>
            <a:ext cx="5564124" cy="2011680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4434840"/>
            <a:ext cx="519836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계좌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등)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버튼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클릭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시</a:t>
            </a: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  PG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노출되지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않음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곧바로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"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완료되었습니다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화면으로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이동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실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연동이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확인되지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않아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통과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불가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31636" y="3794760"/>
            <a:ext cx="5564124" cy="457200"/>
          </a:xfrm>
          <a:prstGeom prst="rect">
            <a:avLst/>
          </a:prstGeom>
          <a:solidFill>
            <a:srgbClr val="1F734E"/>
          </a:solidFill>
          <a:ln>
            <a:solidFill>
              <a:srgbClr val="1F7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31636" y="3927180"/>
            <a:ext cx="556412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올바른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인정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가능</a:t>
            </a:r>
            <a:r>
              <a:rPr sz="125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1636" y="4251960"/>
            <a:ext cx="5564124" cy="2011680"/>
          </a:xfrm>
          <a:prstGeom prst="rect">
            <a:avLst/>
          </a:prstGeom>
          <a:solidFill>
            <a:srgbClr val="E8F5EE"/>
          </a:solidFill>
          <a:ln w="9525">
            <a:solidFill>
              <a:srgbClr val="1F7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4516" y="4434840"/>
            <a:ext cx="5198364" cy="1240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버튼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클릭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시</a:t>
            </a: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 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당사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(KPN) PG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결제창이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정상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노출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lang="ko-KR" altLang="en-US"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 인증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화면까지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캡처에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포함</a:t>
            </a: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endParaRPr sz="105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</a:pP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화면도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05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endParaRPr lang="en-US" sz="105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3192" y="635508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TEST ID/PW를 제공해 주시면 KPN에서도 동일 흐름을 검수할 수 있습니다.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FA192763-6A27-7492-CDA9-B965EA9E1F5E}"/>
              </a:ext>
            </a:extLst>
          </p:cNvPr>
          <p:cNvGrpSpPr/>
          <p:nvPr/>
        </p:nvGrpSpPr>
        <p:grpSpPr>
          <a:xfrm>
            <a:off x="2718054" y="2606040"/>
            <a:ext cx="2103120" cy="1005840"/>
            <a:chOff x="472287" y="2606040"/>
            <a:chExt cx="2103120" cy="1005840"/>
          </a:xfrm>
        </p:grpSpPr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72BE8CAC-1BC8-EFD7-ED85-6906F5256F17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96D4DC8-4557-D403-E380-452A9274BC21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2</a:t>
              </a:r>
            </a:p>
          </p:txBody>
        </p:sp>
        <p:sp>
          <p:nvSpPr>
            <p:cNvPr id="44" name="Rectangle 8">
              <a:extLst>
                <a:ext uri="{FF2B5EF4-FFF2-40B4-BE49-F238E27FC236}">
                  <a16:creationId xmlns:a16="http://schemas.microsoft.com/office/drawing/2014/main" id="{C67018FB-5DC3-2FE0-B4D7-1FCF0277EA01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C9C69F-3AE4-EC59-9241-D5571BC41B2A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상품 선택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45F4E03-40D7-07F3-DF0A-F5E678E29CEB}"/>
              </a:ext>
            </a:extLst>
          </p:cNvPr>
          <p:cNvGrpSpPr/>
          <p:nvPr/>
        </p:nvGrpSpPr>
        <p:grpSpPr>
          <a:xfrm>
            <a:off x="5042916" y="2606040"/>
            <a:ext cx="2103120" cy="1005840"/>
            <a:chOff x="472287" y="2606040"/>
            <a:chExt cx="2103120" cy="1005840"/>
          </a:xfrm>
        </p:grpSpPr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BBDF5AA4-E6A9-F756-3B92-F4AF7ECEC7B6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8A4F08-DFE1-3025-99F9-3A819348A43B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3</a:t>
              </a:r>
            </a:p>
          </p:txBody>
        </p:sp>
        <p:sp>
          <p:nvSpPr>
            <p:cNvPr id="49" name="Rectangle 8">
              <a:extLst>
                <a:ext uri="{FF2B5EF4-FFF2-40B4-BE49-F238E27FC236}">
                  <a16:creationId xmlns:a16="http://schemas.microsoft.com/office/drawing/2014/main" id="{2F0ED128-AB68-6496-54A7-00DEAC6528B9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B3BA7BC-690C-D29B-5AF9-D0532BBB7670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결제수단 선택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7C5C2F5-5969-E91A-5B93-1EA9D4AF33FC}"/>
              </a:ext>
            </a:extLst>
          </p:cNvPr>
          <p:cNvGrpSpPr/>
          <p:nvPr/>
        </p:nvGrpSpPr>
        <p:grpSpPr>
          <a:xfrm>
            <a:off x="9692640" y="2606040"/>
            <a:ext cx="2103120" cy="1005840"/>
            <a:chOff x="472287" y="2606040"/>
            <a:chExt cx="2103120" cy="1005840"/>
          </a:xfrm>
        </p:grpSpPr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D43DBEE3-E7AB-4170-6BDF-AFF85CE1DF18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0D1741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0073FC9-43C9-D2BC-B7D4-09567A82DDD4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solidFill>
                <a:srgbClr val="0D1741"/>
              </a:solidFill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5</a:t>
              </a: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080571B5-1436-87C2-9B63-9A0696EF1EC5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F8C3C34-7431-A73A-05D3-45D7975170A0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>
                  <a:solidFill>
                    <a:srgbClr val="0D1741"/>
                  </a:solidFill>
                  <a:latin typeface="Pretendard"/>
                  <a:ea typeface="Pretendard"/>
                  <a:cs typeface="Pretendard"/>
                </a:rPr>
                <a:t>결제 완료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4A2DCAA-7A05-F0BD-D344-ECFAAEF1F27B}"/>
              </a:ext>
            </a:extLst>
          </p:cNvPr>
          <p:cNvGrpSpPr/>
          <p:nvPr/>
        </p:nvGrpSpPr>
        <p:grpSpPr>
          <a:xfrm>
            <a:off x="7367778" y="2606040"/>
            <a:ext cx="2103120" cy="1005840"/>
            <a:chOff x="472287" y="2606040"/>
            <a:chExt cx="2103120" cy="1005840"/>
          </a:xfrm>
        </p:grpSpPr>
        <p:sp>
          <p:nvSpPr>
            <p:cNvPr id="62" name="Rectangle 6">
              <a:extLst>
                <a:ext uri="{FF2B5EF4-FFF2-40B4-BE49-F238E27FC236}">
                  <a16:creationId xmlns:a16="http://schemas.microsoft.com/office/drawing/2014/main" id="{FD453805-EB87-2421-D533-0D454A332BAB}"/>
                </a:ext>
              </a:extLst>
            </p:cNvPr>
            <p:cNvSpPr/>
            <p:nvPr/>
          </p:nvSpPr>
          <p:spPr>
            <a:xfrm>
              <a:off x="472287" y="2606040"/>
              <a:ext cx="2103120" cy="365760"/>
            </a:xfrm>
            <a:prstGeom prst="rect">
              <a:avLst/>
            </a:prstGeom>
            <a:solidFill>
              <a:srgbClr val="B07110"/>
            </a:solidFill>
            <a:ln>
              <a:solidFill>
                <a:srgbClr val="0D17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543953E-338D-89CE-D2D4-471762087D87}"/>
                </a:ext>
              </a:extLst>
            </p:cNvPr>
            <p:cNvSpPr txBox="1"/>
            <p:nvPr/>
          </p:nvSpPr>
          <p:spPr>
            <a:xfrm>
              <a:off x="983703" y="2714033"/>
              <a:ext cx="1080288" cy="16158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STEP 4</a:t>
              </a:r>
            </a:p>
          </p:txBody>
        </p:sp>
        <p:sp>
          <p:nvSpPr>
            <p:cNvPr id="64" name="Rectangle 8">
              <a:extLst>
                <a:ext uri="{FF2B5EF4-FFF2-40B4-BE49-F238E27FC236}">
                  <a16:creationId xmlns:a16="http://schemas.microsoft.com/office/drawing/2014/main" id="{9E0B6D89-E79E-F006-3875-83A81CD93E23}"/>
                </a:ext>
              </a:extLst>
            </p:cNvPr>
            <p:cNvSpPr/>
            <p:nvPr/>
          </p:nvSpPr>
          <p:spPr>
            <a:xfrm>
              <a:off x="472287" y="2971800"/>
              <a:ext cx="210312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071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CABE876-11EE-1F88-752D-88C1F8CD4874}"/>
                </a:ext>
              </a:extLst>
            </p:cNvPr>
            <p:cNvSpPr txBox="1"/>
            <p:nvPr/>
          </p:nvSpPr>
          <p:spPr>
            <a:xfrm>
              <a:off x="472287" y="3213948"/>
              <a:ext cx="2103120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250" b="1" dirty="0" err="1">
                  <a:solidFill>
                    <a:srgbClr val="B07110"/>
                  </a:solidFill>
                  <a:latin typeface="Pretendard"/>
                  <a:ea typeface="Pretendard"/>
                  <a:cs typeface="Pretendard"/>
                </a:rPr>
                <a:t>결제창</a:t>
              </a:r>
              <a:r>
                <a:rPr lang="ko-KR" altLang="en-US" sz="1250" b="1" dirty="0">
                  <a:solidFill>
                    <a:srgbClr val="B07110"/>
                  </a:solidFill>
                  <a:latin typeface="Pretendard"/>
                  <a:ea typeface="Pretendard"/>
                  <a:cs typeface="Pretendard"/>
                </a:rPr>
                <a:t> 노출</a:t>
              </a:r>
            </a:p>
          </p:txBody>
        </p:sp>
      </p:grpSp>
      <p:pic>
        <p:nvPicPr>
          <p:cNvPr id="71" name="Picture 3" descr="logo_navy_horizontal.png">
            <a:extLst>
              <a:ext uri="{FF2B5EF4-FFF2-40B4-BE49-F238E27FC236}">
                <a16:creationId xmlns:a16="http://schemas.microsoft.com/office/drawing/2014/main" id="{B74DAC12-AA32-8EC4-8F19-D2DF18551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결제수단별 첨부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159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결제수단을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다중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신청하는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경우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각각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별도의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캡처가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필수입니다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2542032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FFF7DC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⚠️ 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미첨부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불가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신청하신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결제수단에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해당하는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슬라이드를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작성해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주세요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3246120"/>
            <a:ext cx="5564124" cy="50292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3246120"/>
            <a:ext cx="5564124" cy="502920"/>
          </a:xfrm>
          <a:prstGeom prst="rect">
            <a:avLst/>
          </a:prstGeom>
          <a:noFill/>
          <a:ln>
            <a:solidFill>
              <a:srgbClr val="0D174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Ⓐ  인증 단건결제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749039"/>
            <a:ext cx="556412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3931920"/>
            <a:ext cx="51983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필수 캡처 :  카드사 인증창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43400"/>
            <a:ext cx="5198364" cy="1348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lang="ko-KR" altLang="en-US"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상품 선택 후 결제 페이지 진입</a:t>
            </a:r>
            <a:endParaRPr lang="en-US"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35000"/>
              </a:lnSpc>
            </a:pPr>
            <a:r>
              <a:rPr lang="en-US" altLang="ko-KR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→ KPN PG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노출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선택</a:t>
            </a:r>
            <a:r>
              <a:rPr lang="ko-KR" altLang="en-US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lang="en-US" altLang="ko-KR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ARS / </a:t>
            </a:r>
            <a:r>
              <a:rPr lang="ko-KR" altLang="en-US" sz="110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앱카드</a:t>
            </a:r>
            <a:r>
              <a:rPr lang="ko-KR" altLang="en-US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10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휴대폰 </a:t>
            </a:r>
            <a:r>
              <a:rPr lang="ko-KR" altLang="en-US" sz="110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인증창</a:t>
            </a:r>
            <a:endParaRPr lang="en-US" sz="110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슬라이드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7  「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인증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」 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작성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31636" y="3246120"/>
            <a:ext cx="5564124" cy="50292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1636" y="3246120"/>
            <a:ext cx="5564124" cy="502920"/>
          </a:xfrm>
          <a:prstGeom prst="rect">
            <a:avLst/>
          </a:prstGeom>
          <a:noFill/>
          <a:ln>
            <a:solidFill>
              <a:srgbClr val="0D1741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Ⓑ  정기결제(빌키)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749039"/>
            <a:ext cx="5564124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4516" y="3931920"/>
            <a:ext cx="51983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필수 캡처 :  카드 등록(빌키 발급)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4343400"/>
            <a:ext cx="519836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페이지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진입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카드번호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유효기간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CVC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입력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본인인증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시)</a:t>
            </a: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발급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화면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5000"/>
              </a:lnSpc>
            </a:pP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슬라이드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8  「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캡처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첨부</a:t>
            </a:r>
            <a:r>
              <a:rPr sz="1100" b="0" dirty="0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」  </a:t>
            </a:r>
            <a:r>
              <a:rPr sz="1100" b="0" dirty="0" err="1">
                <a:solidFill>
                  <a:srgbClr val="1E2137"/>
                </a:solidFill>
                <a:latin typeface="Pretendard"/>
                <a:ea typeface="Pretendard"/>
                <a:cs typeface="Pretendard"/>
              </a:rPr>
              <a:t>작성</a:t>
            </a:r>
            <a:endParaRPr sz="1100" b="0" dirty="0">
              <a:solidFill>
                <a:srgbClr val="1E213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3192" y="6355080"/>
            <a:ext cx="11402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Pretendard"/>
                <a:ea typeface="Pretendard"/>
                <a:cs typeface="Pretendard"/>
              </a:rPr>
              <a:t>※ 단건과 정기를 모두 신청한 경우 슬라이드 7, 8 모두 작성. 하나만 신청한 경우 해당 슬라이드만 작성.</a:t>
            </a:r>
          </a:p>
        </p:txBody>
      </p:sp>
      <p:pic>
        <p:nvPicPr>
          <p:cNvPr id="20" name="Picture 3" descr="logo_navy_horizontal.png">
            <a:extLst>
              <a:ext uri="{FF2B5EF4-FFF2-40B4-BE49-F238E27FC236}">
                <a16:creationId xmlns:a16="http://schemas.microsoft.com/office/drawing/2014/main" id="{F8B96524-D3B0-7477-16B6-E4E78FC1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인증 단건결제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Ⓐ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인증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단건결제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결제수단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선택부터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완료까지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순서대로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</a:t>
            </a:r>
            <a:endParaRPr sz="200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4" name="Picture 3" descr="logo_navy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#1  -  이미지 첨부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결제수단 선택 / 결제창 노출 / 카드사 인증 / 결제 완료)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2414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2414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#2  -  이미지 첨부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2414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3854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결제수단 선택 / 결제창 노출 / 카드사 인증 / 결제 완료)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1636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#3  -  이미지 첨부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5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결제수단 선택 / 결제창 노출 / 카드사 인증 / 결제 완료)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0858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0858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#4  -  이미지 첨부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0858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2298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결제수단 선택 / 결제창 노출 / 카드사 인증 / 결제 완료)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정기결제 카드 등록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Ⓑ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정기결제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) 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카드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페이지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진입부터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빌키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발급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완료까지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첨부</a:t>
            </a:r>
            <a:endParaRPr sz="200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#1  -  이미지 첨부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2414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2414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#2  -  이미지 첨부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2414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3854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1636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#3  -  이미지 첨부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5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0858" y="2697480"/>
            <a:ext cx="2644902" cy="3383280"/>
          </a:xfrm>
          <a:prstGeom prst="rect">
            <a:avLst/>
          </a:prstGeom>
          <a:solidFill>
            <a:srgbClr val="F5F6F8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0858" y="4224528"/>
            <a:ext cx="264490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캡처 #4  -  이미지 첨부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0858" y="6172200"/>
            <a:ext cx="264490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2298" y="6172200"/>
            <a:ext cx="246202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Step (예: 카드 등록 진입 / 카드정보 입력 / 본인인증 / 등록 완료)</a:t>
            </a:r>
          </a:p>
        </p:txBody>
      </p:sp>
      <p:pic>
        <p:nvPicPr>
          <p:cNvPr id="23" name="Picture 3" descr="logo_navy_horizontal.png">
            <a:extLst>
              <a:ext uri="{FF2B5EF4-FFF2-40B4-BE49-F238E27FC236}">
                <a16:creationId xmlns:a16="http://schemas.microsoft.com/office/drawing/2014/main" id="{96CC56ED-C0B6-A3ED-F30A-06B694EA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6517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3) 마지막 결제창 (필수)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단계의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결제창은</a:t>
            </a:r>
            <a:r>
              <a:rPr 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「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하나카드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결제창」으로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캡처해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주세요</a:t>
            </a:r>
            <a:r>
              <a:rPr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0304" y="6574536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2542032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FFF7DC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※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카드사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필수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요청사항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②  —  본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페이지의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캡처가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누락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또는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부적합할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경우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심사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반송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 dirty="0" err="1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처리됩니다</a:t>
            </a:r>
            <a:r>
              <a:rPr sz="1200" b="1" dirty="0">
                <a:solidFill>
                  <a:srgbClr val="B07110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3246120"/>
            <a:ext cx="5564124" cy="45720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3246120"/>
            <a:ext cx="55641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KPN PG 결제창 → 하나카드 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703320"/>
            <a:ext cx="5564124" cy="2560320"/>
          </a:xfrm>
          <a:prstGeom prst="rect">
            <a:avLst/>
          </a:prstGeom>
          <a:solidFill>
            <a:srgbClr val="F5F6F8"/>
          </a:solidFill>
          <a:ln w="1270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4818888"/>
            <a:ext cx="556412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KPN 결제창 + 하나카드 선택 화면 캡처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3246120"/>
            <a:ext cx="5564124" cy="457200"/>
          </a:xfrm>
          <a:prstGeom prst="rect">
            <a:avLst/>
          </a:prstGeom>
          <a:solidFill>
            <a:srgbClr val="0D1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1636" y="3246120"/>
            <a:ext cx="55641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하나카드 결제창 노출 화면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3703320"/>
            <a:ext cx="5564124" cy="2560320"/>
          </a:xfrm>
          <a:prstGeom prst="rect">
            <a:avLst/>
          </a:prstGeom>
          <a:solidFill>
            <a:srgbClr val="F5F6F8"/>
          </a:solidFill>
          <a:ln w="12700">
            <a:solidFill>
              <a:srgbClr val="0D1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1636" y="4882728"/>
            <a:ext cx="556412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[ </a:t>
            </a:r>
            <a:r>
              <a:rPr sz="1250" b="1" dirty="0" err="1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하나카드</a:t>
            </a:r>
            <a:r>
              <a:rPr sz="1250" b="1" dirty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50" b="1" dirty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인증 </a:t>
            </a:r>
            <a:r>
              <a:rPr sz="1250" b="1" dirty="0" err="1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결제창</a:t>
            </a:r>
            <a:r>
              <a:rPr sz="1250" b="1" dirty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50" b="1" dirty="0" err="1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캡처</a:t>
            </a:r>
            <a:r>
              <a:rPr sz="1250" b="1" dirty="0">
                <a:solidFill>
                  <a:srgbClr val="919191"/>
                </a:solidFill>
                <a:latin typeface="Pretendard"/>
                <a:ea typeface="Pretendard"/>
                <a:cs typeface="Pretendard"/>
              </a:rPr>
              <a:t>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6355080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✓ 카드사 요청사항 :  마지막 결제창은 반드시 하나카드 결제창이 노출된 상태여야 합니다.</a:t>
            </a:r>
          </a:p>
        </p:txBody>
      </p:sp>
      <p:pic>
        <p:nvPicPr>
          <p:cNvPr id="18" name="Picture 3" descr="logo_navy_horizontal.png">
            <a:extLst>
              <a:ext uri="{FF2B5EF4-FFF2-40B4-BE49-F238E27FC236}">
                <a16:creationId xmlns:a16="http://schemas.microsoft.com/office/drawing/2014/main" id="{E0BDFCB7-D45C-BA06-402B-A57F4EEC6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1456-6102-A269-3E14-8A0F8319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E49490-459E-2E46-1109-D2B5E45DCC2A}"/>
              </a:ext>
            </a:extLst>
          </p:cNvPr>
          <p:cNvSpPr txBox="1"/>
          <p:nvPr/>
        </p:nvSpPr>
        <p:spPr>
          <a:xfrm>
            <a:off x="292608" y="265176"/>
            <a:ext cx="2057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4) </a:t>
            </a:r>
            <a:r>
              <a:rPr lang="ko-KR" altLang="en-US" sz="1000" b="0" dirty="0" err="1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포트원</a:t>
            </a:r>
            <a:r>
              <a:rPr lang="ko-KR" alt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1000" b="0" dirty="0" err="1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결제창</a:t>
            </a:r>
            <a:r>
              <a:rPr lang="ko-KR" alt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 노출</a:t>
            </a:r>
            <a:r>
              <a:rPr lang="en-US" altLang="ko-KR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ko-KR" altLang="en-US" sz="1000" b="0" dirty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필수</a:t>
            </a:r>
            <a:r>
              <a:rPr lang="en-US" altLang="ko-KR" sz="1000" b="0">
                <a:solidFill>
                  <a:srgbClr val="1E2137"/>
                </a:solidFill>
                <a:latin typeface="Pretendard Light"/>
                <a:ea typeface="Pretendard Light"/>
                <a:cs typeface="Pretendard Light"/>
              </a:rPr>
              <a:t>)</a:t>
            </a:r>
            <a:endParaRPr sz="1000" b="0" dirty="0">
              <a:solidFill>
                <a:srgbClr val="1E2137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79E9-A15E-3B8C-BF1B-63236CFF61F5}"/>
              </a:ext>
            </a:extLst>
          </p:cNvPr>
          <p:cNvSpPr txBox="1"/>
          <p:nvPr/>
        </p:nvSpPr>
        <p:spPr>
          <a:xfrm>
            <a:off x="393192" y="795528"/>
            <a:ext cx="114025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실제 결제수단 선택 화면에서 버튼 클릭 시 결제창이 노출되지 않고 바로 결제 완료 화면으로 이동할 경우</a:t>
            </a:r>
            <a:r>
              <a:rPr lang="en-US" altLang="ko-KR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2000" b="1" dirty="0">
                <a:solidFill>
                  <a:srgbClr val="0D1741"/>
                </a:solidFill>
                <a:latin typeface="Pretendard"/>
                <a:ea typeface="Pretendard"/>
                <a:cs typeface="Pretendard"/>
              </a:rPr>
              <a:t>심사 불가</a:t>
            </a:r>
            <a:endParaRPr sz="2000" b="1" dirty="0">
              <a:solidFill>
                <a:srgbClr val="0D17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4B05F-BD54-577C-A2CA-DAE7BA7B4D05}"/>
              </a:ext>
            </a:extLst>
          </p:cNvPr>
          <p:cNvSpPr txBox="1"/>
          <p:nvPr/>
        </p:nvSpPr>
        <p:spPr>
          <a:xfrm>
            <a:off x="8485632" y="6611112"/>
            <a:ext cx="325526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© Korea Payment Networks Limited All Right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995BB2-F96A-3586-F632-C5C83B93312E}"/>
              </a:ext>
            </a:extLst>
          </p:cNvPr>
          <p:cNvSpPr txBox="1"/>
          <p:nvPr/>
        </p:nvSpPr>
        <p:spPr>
          <a:xfrm>
            <a:off x="9290304" y="6574536"/>
            <a:ext cx="2743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800" b="0" dirty="0">
                <a:solidFill>
                  <a:srgbClr val="919191"/>
                </a:solidFill>
                <a:latin typeface="Pretendard Light"/>
                <a:ea typeface="Pretendard Light"/>
                <a:cs typeface="Pretendard Light"/>
              </a:rPr>
              <a:t>10</a:t>
            </a:r>
            <a:endParaRPr sz="800" b="0" dirty="0">
              <a:solidFill>
                <a:srgbClr val="919191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1E5A83-50D9-1D24-C166-49E03623E934}"/>
              </a:ext>
            </a:extLst>
          </p:cNvPr>
          <p:cNvSpPr/>
          <p:nvPr/>
        </p:nvSpPr>
        <p:spPr>
          <a:xfrm>
            <a:off x="393192" y="1240454"/>
            <a:ext cx="11402568" cy="502920"/>
          </a:xfrm>
          <a:prstGeom prst="roundRect">
            <a:avLst>
              <a:gd name="adj" fmla="val 15000"/>
            </a:avLst>
          </a:prstGeom>
          <a:solidFill>
            <a:srgbClr val="FFF7DC"/>
          </a:solidFill>
          <a:ln w="9525">
            <a:solidFill>
              <a:srgbClr val="B071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F1D6F-D014-9888-CFA4-32E6DEE4B979}"/>
              </a:ext>
            </a:extLst>
          </p:cNvPr>
          <p:cNvSpPr txBox="1"/>
          <p:nvPr/>
        </p:nvSpPr>
        <p:spPr>
          <a:xfrm>
            <a:off x="594360" y="1402295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B0711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r>
              <a:rPr dirty="0"/>
              <a:t>※ </a:t>
            </a:r>
            <a:r>
              <a:rPr lang="ko-KR" altLang="en-US" dirty="0"/>
              <a:t>포트원에 환경설정에서</a:t>
            </a:r>
            <a:r>
              <a:rPr lang="en-US" altLang="ko-KR" dirty="0"/>
              <a:t>, </a:t>
            </a:r>
            <a:r>
              <a:rPr lang="ko-KR" altLang="en-US" dirty="0"/>
              <a:t>아래 이미지와 같이 테스트 결제창으로 구현이 가능합니다</a:t>
            </a:r>
            <a:r>
              <a:rPr lang="en-US" altLang="ko-KR" dirty="0"/>
              <a:t>. </a:t>
            </a:r>
            <a:r>
              <a:rPr lang="ko-KR" altLang="en-US" dirty="0"/>
              <a:t>마지막 </a:t>
            </a:r>
            <a:r>
              <a:rPr lang="ko-KR" altLang="en-US" dirty="0" err="1"/>
              <a:t>결제창</a:t>
            </a:r>
            <a:r>
              <a:rPr lang="ko-KR" altLang="en-US" dirty="0"/>
              <a:t> 화면은</a:t>
            </a:r>
            <a:r>
              <a:rPr lang="en-US" altLang="ko-KR" dirty="0"/>
              <a:t>, </a:t>
            </a:r>
            <a:r>
              <a:rPr lang="ko-KR" altLang="en-US" dirty="0"/>
              <a:t>반드시 </a:t>
            </a:r>
            <a:r>
              <a:rPr lang="en-US" altLang="ko-KR" dirty="0"/>
              <a:t>PG</a:t>
            </a:r>
            <a:r>
              <a:rPr lang="ko-KR" altLang="en-US" dirty="0"/>
              <a:t>결제창이 정상적으로 노출되는 화면을 캡쳐 하신 후 </a:t>
            </a:r>
            <a:r>
              <a:rPr lang="ko-KR" altLang="en-US" dirty="0" err="1"/>
              <a:t>회신요망</a:t>
            </a:r>
            <a:endParaRPr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A41B897-4573-1B9D-508D-1A679D59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092411"/>
            <a:ext cx="4130666" cy="4384506"/>
          </a:xfrm>
          <a:prstGeom prst="rect">
            <a:avLst/>
          </a:prstGeom>
        </p:spPr>
      </p:pic>
      <p:pic>
        <p:nvPicPr>
          <p:cNvPr id="9" name="Picture 3" descr="logo_navy_horizontal.png">
            <a:extLst>
              <a:ext uri="{FF2B5EF4-FFF2-40B4-BE49-F238E27FC236}">
                <a16:creationId xmlns:a16="http://schemas.microsoft.com/office/drawing/2014/main" id="{3586F754-3189-0541-C719-A0C398590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109728"/>
            <a:ext cx="1014984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4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1076</Words>
  <Application>Microsoft Office PowerPoint</Application>
  <PresentationFormat>와이드스크린</PresentationFormat>
  <Paragraphs>164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Pretendard</vt:lpstr>
      <vt:lpstr>Pretendard ExtraBold</vt:lpstr>
      <vt:lpstr>Pretendard Light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Hyuna Kim</cp:lastModifiedBy>
  <cp:revision>4</cp:revision>
  <dcterms:created xsi:type="dcterms:W3CDTF">2013-01-27T09:14:16Z</dcterms:created>
  <dcterms:modified xsi:type="dcterms:W3CDTF">2026-05-21T03:00:04Z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Aibm9kZUNvdW50IjogNCwgIm5vZGUxIiA6IHsiZHNkIjoiMDEwMDAwMDAwMDAwMzU5MyIsImxvZ1RpbWUiOiIyMDI2LTA1LTIxVDAxOjU2OjI2WiIsInBJRCI6MSwicHJvY2Vzc0lkIjoxNDczMiwicHJvY2Vzc05hbWUiOiJmX2JhdG1nci5leGUiLCJ0cmFjZUlkIjoiODQyM0NGOUZCRkQ1NDcyMjkwQzc4OTIzQjlGOTcwOTMiLCJ1c2VyQ29kZSI6ImthbmcifSwibm9kZTIiIDogeyJkc2QiOiIwMTAwMDAwMDAwMDAzNTkzIiwibG9nVGltZSI6IjIwMjYtMDUtMjFUMDE6NTY6MjZaIiwicElEIjoxLCJwcm9jZXNzSWQiOjE0NzMyLCJwcm9jZXNzTmFtZSI6ImZfYmF0bWdyLmV4ZSIsInRyYWNlSWQiOiI4NDIzQ0Y5RkJGRDU0NzIyOTBDNzg5MjNCOUY5NzA5MyIsInVzZXJDb2RlIjoia2FuZyJ9LCJub2RlMyIgOiB7ImRzZCI6IjAxMDAwMDAwMDAwMDM1OTMiLCJsb2dUaW1lIjoiMjAyNi0wNS0yMVQwMjowMjowMVoiLCJwSUQiOjEsInByb2Nlc3NJZCI6MTQ3MzIsInByb2Nlc3NOYW1lIjoiUE9XRVJQTlQuRVhFIiwidHJhY2VJZCI6IkY4OERDMjQwQjlBNTQ4NjFCNDdEMTc0QkIyNzJCRkEwIiwidXNlckNvZGUiOiJrYW5nIn0sIm5vZGU0IiA6IHsiZHNkIjoiMDEwMDAwMDAwMDAwMzU5MyIsImxvZ1RpbWUiOiIyMDI2LTA1LTIxVDAyOjExOjAxWiIsInBJRCI6MSwicHJvY2Vzc0lkIjozODA1MiwicHJvY2Vzc05hbWUiOiJQT1dFUlBOVC5FWEUiLCJ0cmFjZUlkIjoiRjQ1QzI3MDQzNDdFNEJEMEI4RDg4QURBN0UzRENBOTgiLCJ1c2VyQ29kZSI6Imh5dW5hIn0sIm5vZGU1IiA6IHsgInVzZXJDb2RlIiA6ICIiLCAidHJhY2VJZCIgOiAiMzlGOEQzODdBMTgwNENFMkY4RUY2NEM1NDMxQUU2QjIiLCAiZHNkIiA6ICIwMDAwMDAwMDAwMDAwMDAwIiwgInBJRCIgOiAiMjA0OCIsICJsb2dUaW1lIiA6ICIyMDI2LTA1LTI4VDA0OjA0OjI2WiIgfX0=</vt:lpwstr>
  </property>
</Properties>
</file>