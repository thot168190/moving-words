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1741"/>
    <a:srgbClr val="C0392B"/>
    <a:srgbClr val="1F734E"/>
    <a:srgbClr val="B0711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152" autoAdjust="0"/>
  </p:normalViewPr>
  <p:slideViewPr>
    <p:cSldViewPr snapToGrid="0" snapToObjects="1">
      <p:cViewPr>
        <p:scale>
          <a:sx n="100" d="100"/>
          <a:sy n="100" d="100"/>
        </p:scale>
        <p:origin x="95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9F8214-9432-4B9E-A6A3-D069A9445C63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23F419-A7F7-4301-AF19-DDA265D44E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4955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23F419-A7F7-4301-AF19-DDA265D44EF8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301868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0624" y="44805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5371" y="2770632"/>
            <a:ext cx="7315200" cy="14710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sz="4000" dirty="0">
                <a:solidFill>
                  <a:srgbClr val="FFFFF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PG </a:t>
            </a:r>
            <a:r>
              <a:rPr sz="4000" dirty="0" err="1">
                <a:solidFill>
                  <a:srgbClr val="FFFFF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가맹점</a:t>
            </a:r>
            <a:r>
              <a:rPr sz="4000" dirty="0">
                <a:solidFill>
                  <a:srgbClr val="FFFFF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
</a:t>
            </a:r>
            <a:r>
              <a:rPr sz="4000" dirty="0" err="1">
                <a:solidFill>
                  <a:srgbClr val="FFFFF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서브몰</a:t>
            </a:r>
            <a:r>
              <a:rPr sz="4000" dirty="0">
                <a:solidFill>
                  <a:srgbClr val="FFFFF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· </a:t>
            </a:r>
            <a:r>
              <a:rPr sz="4000" dirty="0" err="1">
                <a:solidFill>
                  <a:srgbClr val="FFFFF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카드사</a:t>
            </a:r>
            <a:r>
              <a:rPr sz="4000" dirty="0">
                <a:solidFill>
                  <a:srgbClr val="FFFFF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sz="4000" dirty="0" err="1">
                <a:solidFill>
                  <a:srgbClr val="FFFFF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심사</a:t>
            </a:r>
            <a:r>
              <a:rPr sz="4000" dirty="0">
                <a:solidFill>
                  <a:srgbClr val="FFFFF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sz="4000" dirty="0" err="1">
                <a:solidFill>
                  <a:srgbClr val="FFFFF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안내</a:t>
            </a:r>
            <a:endParaRPr sz="4000" dirty="0">
              <a:solidFill>
                <a:srgbClr val="FFFFFF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5371" y="45720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신규</a:t>
            </a:r>
            <a:r>
              <a:rPr sz="1400" b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가맹점</a:t>
            </a:r>
            <a:r>
              <a:rPr sz="1400" b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등록</a:t>
            </a:r>
            <a:r>
              <a:rPr sz="1400" b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시 </a:t>
            </a:r>
            <a:r>
              <a:rPr sz="1400" b="0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제출</a:t>
            </a:r>
            <a:r>
              <a:rPr sz="1400" b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서류</a:t>
            </a:r>
            <a:r>
              <a:rPr sz="1400" b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및 </a:t>
            </a:r>
            <a:r>
              <a:rPr sz="1400" b="0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결제</a:t>
            </a:r>
            <a:r>
              <a:rPr sz="1400" b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경로</a:t>
            </a:r>
            <a:r>
              <a:rPr sz="1400" b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캡처</a:t>
            </a:r>
            <a:r>
              <a:rPr sz="1400" b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가이드</a:t>
            </a:r>
            <a:endParaRPr sz="1400" b="0" dirty="0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265176"/>
            <a:ext cx="2057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E2137"/>
                </a:solidFill>
                <a:latin typeface="Pretendard Light"/>
                <a:ea typeface="Pretendard Light"/>
                <a:cs typeface="Pretendard Light"/>
              </a:rPr>
              <a:t>회신 안내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795528"/>
            <a:ext cx="11402568" cy="1591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본 PPT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파일에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직접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작성·캡처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첨부하여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메일로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회신해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주시기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바랍니다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632" y="6611112"/>
            <a:ext cx="325526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19191"/>
                </a:solidFill>
                <a:latin typeface="Pretendard Light"/>
                <a:ea typeface="Pretendard Light"/>
                <a:cs typeface="Pretendard Light"/>
              </a:rPr>
              <a:t>© Korea Payment Networks Limited All Right Reserved.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90304" y="6574536"/>
            <a:ext cx="274320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19191"/>
                </a:solidFill>
                <a:latin typeface="Pretendard Light"/>
                <a:ea typeface="Pretendard Light"/>
                <a:cs typeface="Pretendard Light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" y="2514600"/>
            <a:ext cx="11402568" cy="502920"/>
          </a:xfrm>
          <a:prstGeom prst="roundRect">
            <a:avLst>
              <a:gd name="adj" fmla="val 15000"/>
            </a:avLst>
          </a:prstGeom>
          <a:solidFill>
            <a:srgbClr val="E8ECF4"/>
          </a:solidFill>
          <a:ln w="6350">
            <a:solidFill>
              <a:srgbClr val="0D17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51460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📌  본 PPT </a:t>
            </a:r>
            <a:r>
              <a:rPr sz="11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파일을</a:t>
            </a:r>
            <a:r>
              <a:rPr sz="11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다운로드</a:t>
            </a:r>
            <a:r>
              <a:rPr sz="11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후 각 </a:t>
            </a:r>
            <a:r>
              <a:rPr sz="11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슬라이드에</a:t>
            </a:r>
            <a:r>
              <a:rPr sz="11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직접</a:t>
            </a:r>
            <a:r>
              <a:rPr sz="11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작성·이미지</a:t>
            </a:r>
            <a:r>
              <a:rPr sz="11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첨부하여</a:t>
            </a:r>
            <a:r>
              <a:rPr sz="11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회신</a:t>
            </a:r>
            <a:r>
              <a:rPr sz="11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(</a:t>
            </a:r>
            <a:r>
              <a:rPr sz="11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별도</a:t>
            </a:r>
            <a:r>
              <a:rPr sz="11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워드</a:t>
            </a:r>
            <a:r>
              <a:rPr sz="11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sz="11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한글</a:t>
            </a:r>
            <a:r>
              <a:rPr sz="11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파일</a:t>
            </a:r>
            <a:r>
              <a:rPr sz="11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불가</a:t>
            </a:r>
            <a:r>
              <a:rPr sz="11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3200400"/>
            <a:ext cx="114025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[ </a:t>
            </a:r>
            <a:r>
              <a:rPr sz="13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카드사</a:t>
            </a:r>
            <a:r>
              <a:rPr sz="13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필수</a:t>
            </a:r>
            <a:r>
              <a:rPr sz="13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요청사항</a:t>
            </a:r>
            <a:r>
              <a:rPr sz="13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 ] — </a:t>
            </a:r>
            <a:r>
              <a:rPr sz="13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미반영</a:t>
            </a:r>
            <a:r>
              <a:rPr sz="13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 시 </a:t>
            </a:r>
            <a:r>
              <a:rPr sz="13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심사</a:t>
            </a:r>
            <a:r>
              <a:rPr sz="13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반송</a:t>
            </a:r>
            <a:r>
              <a:rPr sz="13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처리</a:t>
            </a:r>
            <a:endParaRPr sz="1300" b="1" dirty="0">
              <a:solidFill>
                <a:srgbClr val="B0711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93192" y="3566160"/>
            <a:ext cx="3678936" cy="457200"/>
          </a:xfrm>
          <a:prstGeom prst="rect">
            <a:avLst/>
          </a:prstGeom>
          <a:solidFill>
            <a:srgbClr val="B07110"/>
          </a:solidFill>
          <a:ln w="9525">
            <a:solidFill>
              <a:srgbClr val="B071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3709621"/>
            <a:ext cx="2767838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ko-KR" altLang="en-US" sz="1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 </a:t>
            </a:r>
            <a:r>
              <a:rPr sz="115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홈페이지</a:t>
            </a:r>
            <a:r>
              <a:rPr sz="115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5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사업자</a:t>
            </a:r>
            <a:r>
              <a:rPr sz="115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5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정보</a:t>
            </a:r>
            <a:r>
              <a:rPr sz="115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5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기재</a:t>
            </a:r>
            <a:endParaRPr sz="1150" b="1" dirty="0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93192" y="4023360"/>
            <a:ext cx="3678936" cy="2286000"/>
          </a:xfrm>
          <a:prstGeom prst="rect">
            <a:avLst/>
          </a:prstGeom>
          <a:solidFill>
            <a:srgbClr val="FFF7DC"/>
          </a:solidFill>
          <a:ln w="6350">
            <a:solidFill>
              <a:srgbClr val="B071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6072" y="4160520"/>
            <a:ext cx="3358896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홈페이지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하단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(Footer)에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사업자등록증과</a:t>
            </a:r>
            <a:endParaRPr sz="105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5000"/>
              </a:lnSpc>
            </a:pP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동일하게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아래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5가지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정보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1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모두</a:t>
            </a:r>
            <a:r>
              <a:rPr sz="1050" b="1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1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기재</a:t>
            </a:r>
            <a:endParaRPr sz="1050" b="1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5000"/>
              </a:lnSpc>
            </a:pPr>
            <a:endParaRPr sz="105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5000"/>
              </a:lnSpc>
            </a:pP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•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사업자등록번호</a:t>
            </a:r>
            <a:endParaRPr sz="105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5000"/>
              </a:lnSpc>
            </a:pP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•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상호명</a:t>
            </a:r>
            <a:endParaRPr sz="105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5000"/>
              </a:lnSpc>
            </a:pP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•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사업장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주소</a:t>
            </a:r>
            <a:endParaRPr sz="105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5000"/>
              </a:lnSpc>
            </a:pP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•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대표자명</a:t>
            </a:r>
            <a:endParaRPr sz="105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5000"/>
              </a:lnSpc>
            </a:pP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•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유선전화</a:t>
            </a:r>
            <a:endParaRPr sz="105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76072" y="5989320"/>
            <a:ext cx="335889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※ 미기재 시 심사 반송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7389" y="3566160"/>
            <a:ext cx="3676555" cy="457200"/>
          </a:xfrm>
          <a:prstGeom prst="rect">
            <a:avLst/>
          </a:prstGeom>
          <a:solidFill>
            <a:srgbClr val="B07110"/>
          </a:solidFill>
          <a:ln w="12700">
            <a:solidFill>
              <a:srgbClr val="B071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55008" y="4023360"/>
            <a:ext cx="3678936" cy="2286000"/>
          </a:xfrm>
          <a:prstGeom prst="rect">
            <a:avLst/>
          </a:prstGeom>
          <a:solidFill>
            <a:srgbClr val="FFF7DC"/>
          </a:solidFill>
          <a:ln w="6350">
            <a:solidFill>
              <a:srgbClr val="B071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37888" y="4160520"/>
            <a:ext cx="3358896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결제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프로세스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마지막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단계의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결제창은</a:t>
            </a:r>
            <a:endParaRPr sz="105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5000"/>
              </a:lnSpc>
            </a:pP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반드시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「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하나카드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결제창」으로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캡처</a:t>
            </a:r>
            <a:endParaRPr sz="105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5000"/>
              </a:lnSpc>
            </a:pPr>
            <a:endParaRPr sz="105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5000"/>
              </a:lnSpc>
            </a:pP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(→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슬라이드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9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참조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7888" y="5989320"/>
            <a:ext cx="335889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dirty="0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※ KPN PG </a:t>
            </a:r>
            <a:r>
              <a:rPr sz="950" b="1" dirty="0" err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결제창</a:t>
            </a:r>
            <a:r>
              <a:rPr sz="950" b="1" dirty="0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 + </a:t>
            </a:r>
            <a:r>
              <a:rPr sz="950" b="1" dirty="0" err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하나카드</a:t>
            </a:r>
            <a:r>
              <a:rPr sz="950" b="1" dirty="0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50" b="1" dirty="0" err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선택</a:t>
            </a:r>
            <a:r>
              <a:rPr sz="950" b="1" dirty="0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50" b="1" dirty="0" err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화면</a:t>
            </a:r>
            <a:endParaRPr sz="950" b="1" dirty="0">
              <a:solidFill>
                <a:srgbClr val="C0392B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116824" y="3566160"/>
            <a:ext cx="3678936" cy="457200"/>
          </a:xfrm>
          <a:prstGeom prst="rect">
            <a:avLst/>
          </a:prstGeom>
          <a:solidFill>
            <a:srgbClr val="B07110"/>
          </a:solidFill>
          <a:ln w="12700">
            <a:solidFill>
              <a:srgbClr val="B071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16824" y="4023360"/>
            <a:ext cx="3678936" cy="2286000"/>
          </a:xfrm>
          <a:prstGeom prst="rect">
            <a:avLst/>
          </a:prstGeom>
          <a:solidFill>
            <a:srgbClr val="FFF7DC"/>
          </a:solidFill>
          <a:ln w="6350">
            <a:solidFill>
              <a:srgbClr val="B071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99704" y="4160520"/>
            <a:ext cx="3358896" cy="10688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신청한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결제수단별로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결제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프로세스를</a:t>
            </a:r>
            <a:endParaRPr sz="105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5000"/>
              </a:lnSpc>
            </a:pP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각각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별도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캡처하여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첨부</a:t>
            </a:r>
            <a:endParaRPr sz="105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5000"/>
              </a:lnSpc>
            </a:pPr>
            <a:endParaRPr sz="105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5000"/>
              </a:lnSpc>
            </a:pP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•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인증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단건결제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 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→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카드사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인증창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필수</a:t>
            </a:r>
            <a:endParaRPr sz="105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5000"/>
              </a:lnSpc>
            </a:pP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•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정기결제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빌키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) →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카드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등록화면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필수</a:t>
            </a:r>
            <a:endParaRPr sz="105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99704" y="5989320"/>
            <a:ext cx="335889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※ 슬라이드 7~8 참조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52CC6E0-4291-57F5-A7C4-B5CC0F561042}"/>
              </a:ext>
            </a:extLst>
          </p:cNvPr>
          <p:cNvSpPr txBox="1"/>
          <p:nvPr/>
        </p:nvSpPr>
        <p:spPr>
          <a:xfrm>
            <a:off x="4437888" y="3709621"/>
            <a:ext cx="2767838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ko-KR" altLang="en-US" sz="1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 </a:t>
            </a:r>
            <a:r>
              <a:rPr lang="ko-KR" altLang="en-US" sz="115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결제창</a:t>
            </a:r>
            <a:r>
              <a:rPr lang="ko-KR" altLang="en-US" sz="115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캡처</a:t>
            </a:r>
            <a:endParaRPr sz="1150" b="1" dirty="0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B0F4C2-DC38-4D3E-982E-15F3F1B2DDC7}"/>
              </a:ext>
            </a:extLst>
          </p:cNvPr>
          <p:cNvSpPr txBox="1"/>
          <p:nvPr/>
        </p:nvSpPr>
        <p:spPr>
          <a:xfrm>
            <a:off x="8299704" y="3709621"/>
            <a:ext cx="2767838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ko-KR" altLang="en-US" sz="1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 </a:t>
            </a:r>
            <a:r>
              <a:rPr lang="ko-KR" altLang="en-US" sz="115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결제수단 다중 신청 시 별도 첨부</a:t>
            </a:r>
          </a:p>
        </p:txBody>
      </p:sp>
      <p:pic>
        <p:nvPicPr>
          <p:cNvPr id="30" name="Picture 3" descr="logo_navy_horizontal.png">
            <a:extLst>
              <a:ext uri="{FF2B5EF4-FFF2-40B4-BE49-F238E27FC236}">
                <a16:creationId xmlns:a16="http://schemas.microsoft.com/office/drawing/2014/main" id="{6E9EA7AB-0308-13B8-A02D-F993861DC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7664" y="109728"/>
            <a:ext cx="1014984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265176"/>
            <a:ext cx="2057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E2137"/>
                </a:solidFill>
                <a:latin typeface="Pretendard Light"/>
                <a:ea typeface="Pretendard Light"/>
                <a:cs typeface="Pretendard Light"/>
              </a:rPr>
              <a:t>1) 업체 정보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795528"/>
            <a:ext cx="11402568" cy="71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D1741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>
              <a:lnSpc>
                <a:spcPts val="2900"/>
              </a:lnSpc>
            </a:pPr>
            <a:r>
              <a:rPr dirty="0" err="1"/>
              <a:t>연동할</a:t>
            </a:r>
            <a:r>
              <a:rPr dirty="0"/>
              <a:t> </a:t>
            </a:r>
            <a:r>
              <a:rPr dirty="0" err="1"/>
              <a:t>웹·APP</a:t>
            </a:r>
            <a:r>
              <a:rPr dirty="0"/>
              <a:t> 내 </a:t>
            </a:r>
            <a:r>
              <a:rPr dirty="0" err="1"/>
              <a:t>사업자등록번호·대표명·유선번호·주소</a:t>
            </a:r>
            <a:r>
              <a:rPr dirty="0"/>
              <a:t> 등
</a:t>
            </a:r>
            <a:r>
              <a:rPr dirty="0" err="1"/>
              <a:t>사업자등록증상의</a:t>
            </a:r>
            <a:r>
              <a:rPr dirty="0"/>
              <a:t> </a:t>
            </a:r>
            <a:r>
              <a:rPr dirty="0" err="1"/>
              <a:t>정보와</a:t>
            </a:r>
            <a:r>
              <a:rPr dirty="0"/>
              <a:t> </a:t>
            </a:r>
            <a:r>
              <a:rPr dirty="0" err="1"/>
              <a:t>모두</a:t>
            </a:r>
            <a:r>
              <a:rPr dirty="0"/>
              <a:t> </a:t>
            </a:r>
            <a:r>
              <a:rPr dirty="0" err="1"/>
              <a:t>일치해야</a:t>
            </a:r>
            <a:r>
              <a:rPr dirty="0"/>
              <a:t> </a:t>
            </a:r>
            <a:r>
              <a:rPr dirty="0" err="1"/>
              <a:t>합니다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632" y="6611112"/>
            <a:ext cx="325526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19191"/>
                </a:solidFill>
                <a:latin typeface="Pretendard Light"/>
                <a:ea typeface="Pretendard Light"/>
                <a:cs typeface="Pretendard Light"/>
              </a:rPr>
              <a:t>© Korea Payment Networks Limited All Right Reserved.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90304" y="6574536"/>
            <a:ext cx="274320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19191"/>
                </a:solidFill>
                <a:latin typeface="Pretendard Light"/>
                <a:ea typeface="Pretendard Light"/>
                <a:cs typeface="Pretendard Light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2606040"/>
            <a:ext cx="1737360" cy="384048"/>
          </a:xfrm>
          <a:prstGeom prst="rect">
            <a:avLst/>
          </a:prstGeom>
          <a:solidFill>
            <a:srgbClr val="E8ECF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2606040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업체명</a:t>
            </a:r>
          </a:p>
        </p:txBody>
      </p:sp>
      <p:sp>
        <p:nvSpPr>
          <p:cNvPr id="9" name="Rectangle 8"/>
          <p:cNvSpPr/>
          <p:nvPr/>
        </p:nvSpPr>
        <p:spPr>
          <a:xfrm>
            <a:off x="2130552" y="2606040"/>
            <a:ext cx="39182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1050" b="0">
                <a:solidFill>
                  <a:srgbClr val="1A1A1A"/>
                </a:solidFill>
                <a:latin typeface="Malgun Gothic"/>
              </a:rPr>
              <a:t>매또컴퍼니</a:t>
            </a:r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93192" y="2990088"/>
            <a:ext cx="1737360" cy="384048"/>
          </a:xfrm>
          <a:prstGeom prst="rect">
            <a:avLst/>
          </a:prstGeom>
          <a:solidFill>
            <a:srgbClr val="E8ECF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990088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사업자</a:t>
            </a:r>
            <a:r>
              <a:rPr sz="105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등록번호</a:t>
            </a:r>
            <a:endParaRPr sz="1050" b="1" dirty="0">
              <a:solidFill>
                <a:srgbClr val="0D174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130552" y="2990088"/>
            <a:ext cx="39182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1050" b="0">
                <a:solidFill>
                  <a:srgbClr val="1A1A1A"/>
                </a:solidFill>
                <a:latin typeface="Malgun Gothic"/>
              </a:rPr>
              <a:t>308-15-96097</a:t>
            </a: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93192" y="3374136"/>
            <a:ext cx="1737360" cy="384048"/>
          </a:xfrm>
          <a:prstGeom prst="rect">
            <a:avLst/>
          </a:prstGeom>
          <a:solidFill>
            <a:srgbClr val="E8ECF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3374136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대표명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30552" y="3374136"/>
            <a:ext cx="39182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1050" b="0">
                <a:solidFill>
                  <a:srgbClr val="1A1A1A"/>
                </a:solidFill>
                <a:latin typeface="Malgun Gothic"/>
              </a:rPr>
              <a:t>이미현</a:t>
            </a:r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93192" y="3758184"/>
            <a:ext cx="1737360" cy="384048"/>
          </a:xfrm>
          <a:prstGeom prst="rect">
            <a:avLst/>
          </a:prstGeom>
          <a:solidFill>
            <a:srgbClr val="E8ECF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3758184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대표자 생년월일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30552" y="3758184"/>
            <a:ext cx="39182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1050" b="0">
                <a:solidFill>
                  <a:srgbClr val="1A1A1A"/>
                </a:solidFill>
                <a:latin typeface="Malgun Gothic"/>
              </a:rPr>
              <a:t>1972. 02. 22.</a:t>
            </a:r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93192" y="4142232"/>
            <a:ext cx="1737360" cy="384048"/>
          </a:xfrm>
          <a:prstGeom prst="rect">
            <a:avLst/>
          </a:prstGeom>
          <a:solidFill>
            <a:srgbClr val="E8ECF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4142232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담당자명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30552" y="4142232"/>
            <a:ext cx="39182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1050" b="0">
                <a:solidFill>
                  <a:srgbClr val="1A1A1A"/>
                </a:solidFill>
                <a:latin typeface="Malgun Gothic"/>
              </a:rPr>
              <a:t>이미현</a:t>
            </a:r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93192" y="4526280"/>
            <a:ext cx="1737360" cy="384048"/>
          </a:xfrm>
          <a:prstGeom prst="rect">
            <a:avLst/>
          </a:prstGeom>
          <a:solidFill>
            <a:srgbClr val="E8ECF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4526280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담당자 이메일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30552" y="4526280"/>
            <a:ext cx="39182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1050" b="0">
                <a:solidFill>
                  <a:srgbClr val="1A1A1A"/>
                </a:solidFill>
                <a:latin typeface="Malgun Gothic"/>
              </a:rPr>
              <a:t>thot168190@gmail.com</a:t>
            </a:r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93192" y="4910328"/>
            <a:ext cx="1737360" cy="384048"/>
          </a:xfrm>
          <a:prstGeom prst="rect">
            <a:avLst/>
          </a:prstGeom>
          <a:solidFill>
            <a:srgbClr val="E8ECF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4910328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담당자 연락처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30552" y="4910328"/>
            <a:ext cx="39182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1050" b="0">
                <a:solidFill>
                  <a:srgbClr val="1A1A1A"/>
                </a:solidFill>
                <a:latin typeface="Malgun Gothic"/>
              </a:rPr>
              <a:t>010-2058-9900</a:t>
            </a:r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93192" y="5294376"/>
            <a:ext cx="1737360" cy="384048"/>
          </a:xfrm>
          <a:prstGeom prst="rect">
            <a:avLst/>
          </a:prstGeom>
          <a:solidFill>
            <a:srgbClr val="E8ECF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5294376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고객센터 번호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30552" y="5294376"/>
            <a:ext cx="39182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1050">
                <a:solidFill>
                  <a:srgbClr val="1A1A1A"/>
                </a:solidFill>
                <a:latin typeface="Malgun Gothic"/>
              </a:rPr>
              <a:t>010-2058-9900</a:t>
            </a:r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93192" y="5678424"/>
            <a:ext cx="1737360" cy="384048"/>
          </a:xfrm>
          <a:prstGeom prst="rect">
            <a:avLst/>
          </a:prstGeom>
          <a:solidFill>
            <a:srgbClr val="E8ECF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5678424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서비스명(사이트명)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30552" y="5678424"/>
            <a:ext cx="39182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1050" b="0">
                <a:solidFill>
                  <a:srgbClr val="1A1A1A"/>
                </a:solidFill>
                <a:latin typeface="Malgun Gothic"/>
              </a:rPr>
              <a:t>보는 단어장 (inkword)</a:t>
            </a:r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140196" y="2606040"/>
            <a:ext cx="1737360" cy="384048"/>
          </a:xfrm>
          <a:prstGeom prst="rect">
            <a:avLst/>
          </a:prstGeom>
          <a:solidFill>
            <a:srgbClr val="E8ECF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49924" y="2606040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서비스 소개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77556" y="2606040"/>
            <a:ext cx="39182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900" b="0">
                <a:solidFill>
                  <a:srgbClr val="1A1A1A"/>
                </a:solidFill>
                <a:latin typeface="Malgun Gothic"/>
              </a:rPr>
              <a:t>영어 단어 1200개를 8초 애니메이션으로 학습하는 웹 기반 디지털 콘텐츠</a:t>
            </a:r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140196" y="2990088"/>
            <a:ext cx="1737360" cy="384048"/>
          </a:xfrm>
          <a:prstGeom prst="rect">
            <a:avLst/>
          </a:prstGeom>
          <a:solidFill>
            <a:srgbClr val="E8ECF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49924" y="2990088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사이트 URL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77556" y="2990088"/>
            <a:ext cx="39182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1050" b="0">
                <a:solidFill>
                  <a:srgbClr val="1A1A1A"/>
                </a:solidFill>
                <a:latin typeface="Malgun Gothic"/>
              </a:rPr>
              <a:t>https://inkword.site</a:t>
            </a:r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140196" y="3374136"/>
            <a:ext cx="1737360" cy="384048"/>
          </a:xfrm>
          <a:prstGeom prst="rect">
            <a:avLst/>
          </a:prstGeom>
          <a:solidFill>
            <a:srgbClr val="E8ECF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49924" y="3374136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TEST ID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77556" y="3374136"/>
            <a:ext cx="39182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1050" b="0">
                <a:solidFill>
                  <a:srgbClr val="1A1A1A"/>
                </a:solidFill>
                <a:latin typeface="Malgun Gothic"/>
              </a:rPr>
              <a:t>thot168190+kakao@gmail.com</a:t>
            </a:r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140196" y="3758184"/>
            <a:ext cx="1737360" cy="384048"/>
          </a:xfrm>
          <a:prstGeom prst="rect">
            <a:avLst/>
          </a:prstGeom>
          <a:solidFill>
            <a:srgbClr val="E8ECF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49924" y="3758184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TEST PW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77556" y="3758184"/>
            <a:ext cx="39182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1050" b="0">
                <a:solidFill>
                  <a:srgbClr val="1A1A1A"/>
                </a:solidFill>
                <a:latin typeface="Malgun Gothic"/>
              </a:rPr>
              <a:t>Inkword2026!</a:t>
            </a:r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140196" y="4142232"/>
            <a:ext cx="1737360" cy="384048"/>
          </a:xfrm>
          <a:prstGeom prst="rect">
            <a:avLst/>
          </a:prstGeom>
          <a:solidFill>
            <a:srgbClr val="E8ECF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49924" y="4142232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서비스 개시(예정)일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877556" y="4142232"/>
            <a:ext cx="39182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1050">
                <a:solidFill>
                  <a:srgbClr val="1A1A1A"/>
                </a:solidFill>
                <a:latin typeface="Malgun Gothic"/>
              </a:rPr>
              <a:t>이미 운영 중 (정식 오픈 2026년 9월 예정)</a:t>
            </a:r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140196" y="4526280"/>
            <a:ext cx="1737360" cy="384048"/>
          </a:xfrm>
          <a:prstGeom prst="rect">
            <a:avLst/>
          </a:prstGeom>
          <a:solidFill>
            <a:srgbClr val="E8ECF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49924" y="4526280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판매 품목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77556" y="4526280"/>
            <a:ext cx="39182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1050" b="0">
                <a:solidFill>
                  <a:srgbClr val="1A1A1A"/>
                </a:solidFill>
                <a:latin typeface="Malgun Gothic"/>
              </a:rPr>
              <a:t>영어 학습용 디지털 콘텐츠 이용권 (단건)</a:t>
            </a:r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140196" y="4910328"/>
            <a:ext cx="1737360" cy="384048"/>
          </a:xfrm>
          <a:prstGeom prst="rect">
            <a:avLst/>
          </a:prstGeom>
          <a:solidFill>
            <a:srgbClr val="E8ECF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249924" y="4910328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월 예상 매출액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877556" y="4910328"/>
            <a:ext cx="39182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1050">
                <a:solidFill>
                  <a:srgbClr val="1A1A1A"/>
                </a:solidFill>
                <a:latin typeface="Malgun Gothic"/>
              </a:rPr>
              <a:t>월 100만원</a:t>
            </a:r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140196" y="5294376"/>
            <a:ext cx="1737360" cy="384048"/>
          </a:xfrm>
          <a:prstGeom prst="rect">
            <a:avLst/>
          </a:prstGeom>
          <a:solidFill>
            <a:srgbClr val="E8ECF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249924" y="5294376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객단가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877556" y="5294376"/>
            <a:ext cx="39182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1050" b="0">
                <a:solidFill>
                  <a:srgbClr val="1A1A1A"/>
                </a:solidFill>
                <a:latin typeface="Malgun Gothic"/>
              </a:rPr>
              <a:t>9,900원</a:t>
            </a:r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140196" y="5678424"/>
            <a:ext cx="1737360" cy="384048"/>
          </a:xfrm>
          <a:prstGeom prst="rect">
            <a:avLst/>
          </a:prstGeom>
          <a:solidFill>
            <a:srgbClr val="E8ECF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249924" y="5678424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비고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877556" y="5678424"/>
            <a:ext cx="39182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l"/>
            <a:r>
              <a:rPr sz="900" b="0">
                <a:solidFill>
                  <a:srgbClr val="1A1A1A"/>
                </a:solidFill>
                <a:latin typeface="Malgun Gothic"/>
              </a:rPr>
              <a:t>비회원 구매 불가 · 로그인 후 결제 / 정기결제(빌키) 미사용, 인증 단건결제만 신청</a:t>
            </a:r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93192" y="6199632"/>
            <a:ext cx="114025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※ TEST ID/PW는 결제 경로 검수를 위해 반드시 제공해 주시기 바랍니다.</a:t>
            </a:r>
          </a:p>
        </p:txBody>
      </p:sp>
      <p:pic>
        <p:nvPicPr>
          <p:cNvPr id="62" name="Picture 3" descr="logo_navy_horizontal.png">
            <a:extLst>
              <a:ext uri="{FF2B5EF4-FFF2-40B4-BE49-F238E27FC236}">
                <a16:creationId xmlns:a16="http://schemas.microsoft.com/office/drawing/2014/main" id="{B2BE6E7D-026C-98BD-418F-EA029E732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7664" y="109728"/>
            <a:ext cx="1014984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265176"/>
            <a:ext cx="2057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E2137"/>
                </a:solidFill>
                <a:latin typeface="Pretendard Light"/>
                <a:ea typeface="Pretendard Light"/>
                <a:cs typeface="Pretendard Light"/>
              </a:rPr>
              <a:t>2) 서비스·환불 관련 서류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632" y="6611112"/>
            <a:ext cx="325526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19191"/>
                </a:solidFill>
                <a:latin typeface="Pretendard Light"/>
                <a:ea typeface="Pretendard Light"/>
                <a:cs typeface="Pretendard Light"/>
              </a:rPr>
              <a:t>© Korea Payment Networks Limited All Right Reserved.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90304" y="6574536"/>
            <a:ext cx="274320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19191"/>
                </a:solidFill>
                <a:latin typeface="Pretendard Light"/>
                <a:ea typeface="Pretendard Light"/>
                <a:cs typeface="Pretendard Light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2606040"/>
            <a:ext cx="3617976" cy="457200"/>
          </a:xfrm>
          <a:prstGeom prst="rect">
            <a:avLst/>
          </a:prstGeom>
          <a:solidFill>
            <a:srgbClr val="0D1741"/>
          </a:solidFill>
          <a:ln>
            <a:solidFill>
              <a:srgbClr val="0D17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5121" y="2742307"/>
            <a:ext cx="2474118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 </a:t>
            </a:r>
            <a:r>
              <a:rPr sz="12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서비스</a:t>
            </a:r>
            <a:r>
              <a:rPr sz="1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소개서</a:t>
            </a:r>
            <a:endParaRPr sz="1200" b="1" dirty="0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93192" y="3063240"/>
            <a:ext cx="3617976" cy="777240"/>
          </a:xfrm>
          <a:prstGeom prst="rect">
            <a:avLst/>
          </a:prstGeom>
          <a:solidFill>
            <a:srgbClr val="E8ECF4"/>
          </a:solidFill>
          <a:ln w="6350">
            <a:solidFill>
              <a:srgbClr val="0D17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3108960"/>
            <a:ext cx="3343656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BM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형태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/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결제·정산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Process가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
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쉽게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이해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가능해야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" y="3886200"/>
            <a:ext cx="3617976" cy="2377440"/>
          </a:xfrm>
          <a:prstGeom prst="rect">
            <a:avLst/>
          </a:prstGeom>
          <a:solidFill>
            <a:srgbClr val="F5F6F8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3192" y="4892040"/>
            <a:ext cx="361797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85488" y="3886200"/>
            <a:ext cx="3617976" cy="2377440"/>
          </a:xfrm>
          <a:prstGeom prst="rect">
            <a:avLst/>
          </a:prstGeom>
          <a:solidFill>
            <a:srgbClr val="F5F6F8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85488" y="4892040"/>
            <a:ext cx="361797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77784" y="3886200"/>
            <a:ext cx="3617976" cy="2377440"/>
          </a:xfrm>
          <a:prstGeom prst="rect">
            <a:avLst/>
          </a:prstGeom>
          <a:solidFill>
            <a:srgbClr val="F5F6F8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77784" y="4892040"/>
            <a:ext cx="361797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6355080"/>
            <a:ext cx="114025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※ 사업자등록증 정보 = 사이트(앱) 표기 정보 = 홈페이지 하단 사업자 정보가 모두 일치해야 합니다.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37AFE8-C5D3-3EFF-8881-804DAA397A5F}"/>
              </a:ext>
            </a:extLst>
          </p:cNvPr>
          <p:cNvSpPr txBox="1"/>
          <p:nvPr/>
        </p:nvSpPr>
        <p:spPr>
          <a:xfrm>
            <a:off x="393192" y="795528"/>
            <a:ext cx="11402568" cy="4085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D1741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r>
              <a:rPr lang="en-US" altLang="ko-KR" dirty="0"/>
              <a:t>BM·</a:t>
            </a:r>
            <a:r>
              <a:rPr lang="ko-KR" altLang="en-US" dirty="0"/>
              <a:t>결제</a:t>
            </a:r>
            <a:r>
              <a:rPr lang="en-US" altLang="ko-KR" dirty="0"/>
              <a:t>·</a:t>
            </a:r>
            <a:r>
              <a:rPr lang="ko-KR" altLang="en-US" dirty="0"/>
              <a:t>정산 </a:t>
            </a:r>
            <a:r>
              <a:rPr lang="en-US" altLang="ko-KR" dirty="0"/>
              <a:t>Process</a:t>
            </a:r>
            <a:r>
              <a:rPr lang="ko-KR" altLang="en-US" dirty="0"/>
              <a:t>가 명확히 이해되도록 아래 </a:t>
            </a:r>
            <a:r>
              <a:rPr lang="en-US" altLang="ko-KR" dirty="0"/>
              <a:t>3</a:t>
            </a:r>
            <a:r>
              <a:rPr lang="ko-KR" altLang="en-US" dirty="0"/>
              <a:t>종을 모두 첨부해 주세요</a:t>
            </a:r>
            <a:r>
              <a:rPr lang="en-US" altLang="ko-KR" dirty="0"/>
              <a:t>.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288EA4D6-F2CF-3DFF-34C2-E500AAAA8827}"/>
              </a:ext>
            </a:extLst>
          </p:cNvPr>
          <p:cNvSpPr/>
          <p:nvPr/>
        </p:nvSpPr>
        <p:spPr>
          <a:xfrm>
            <a:off x="4285488" y="2606040"/>
            <a:ext cx="3617976" cy="457200"/>
          </a:xfrm>
          <a:prstGeom prst="rect">
            <a:avLst/>
          </a:prstGeom>
          <a:solidFill>
            <a:srgbClr val="0D1741"/>
          </a:solidFill>
          <a:ln>
            <a:solidFill>
              <a:srgbClr val="0D17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98D35C-4CE7-D713-E7D4-636C672C2B97}"/>
              </a:ext>
            </a:extLst>
          </p:cNvPr>
          <p:cNvSpPr txBox="1"/>
          <p:nvPr/>
        </p:nvSpPr>
        <p:spPr>
          <a:xfrm>
            <a:off x="4857417" y="2742307"/>
            <a:ext cx="2474118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 홈페이지 하단 정보</a:t>
            </a:r>
          </a:p>
        </p:txBody>
      </p:sp>
      <p:sp>
        <p:nvSpPr>
          <p:cNvPr id="28" name="Rectangle 8">
            <a:extLst>
              <a:ext uri="{FF2B5EF4-FFF2-40B4-BE49-F238E27FC236}">
                <a16:creationId xmlns:a16="http://schemas.microsoft.com/office/drawing/2014/main" id="{96577BFA-5D25-472F-0A53-5CE83353E2E8}"/>
              </a:ext>
            </a:extLst>
          </p:cNvPr>
          <p:cNvSpPr/>
          <p:nvPr/>
        </p:nvSpPr>
        <p:spPr>
          <a:xfrm>
            <a:off x="4285488" y="3063240"/>
            <a:ext cx="3617976" cy="777240"/>
          </a:xfrm>
          <a:prstGeom prst="rect">
            <a:avLst/>
          </a:prstGeom>
          <a:solidFill>
            <a:srgbClr val="E8ECF4"/>
          </a:solidFill>
          <a:ln w="6350">
            <a:solidFill>
              <a:srgbClr val="0D17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23CD05-F668-25A2-DDC7-60A69C3992F0}"/>
              </a:ext>
            </a:extLst>
          </p:cNvPr>
          <p:cNvSpPr txBox="1"/>
          <p:nvPr/>
        </p:nvSpPr>
        <p:spPr>
          <a:xfrm>
            <a:off x="4422648" y="3274569"/>
            <a:ext cx="3343656" cy="40030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lang="ko-KR" altLang="en-US" sz="105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사업자등록증 상 정보와
반드시 일치</a:t>
            </a:r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8516397D-DD83-A86C-62BA-8F2512C78D5B}"/>
              </a:ext>
            </a:extLst>
          </p:cNvPr>
          <p:cNvSpPr/>
          <p:nvPr/>
        </p:nvSpPr>
        <p:spPr>
          <a:xfrm>
            <a:off x="8177784" y="2606040"/>
            <a:ext cx="3617976" cy="457200"/>
          </a:xfrm>
          <a:prstGeom prst="rect">
            <a:avLst/>
          </a:prstGeom>
          <a:solidFill>
            <a:srgbClr val="0D1741"/>
          </a:solidFill>
          <a:ln>
            <a:solidFill>
              <a:srgbClr val="0D17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1E11BB1-5D2B-BF74-6A9B-EDEFA014BE3F}"/>
              </a:ext>
            </a:extLst>
          </p:cNvPr>
          <p:cNvSpPr txBox="1"/>
          <p:nvPr/>
        </p:nvSpPr>
        <p:spPr>
          <a:xfrm>
            <a:off x="8749713" y="2742307"/>
            <a:ext cx="2474118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 환불약관</a:t>
            </a:r>
          </a:p>
        </p:txBody>
      </p:sp>
      <p:sp>
        <p:nvSpPr>
          <p:cNvPr id="32" name="Rectangle 8">
            <a:extLst>
              <a:ext uri="{FF2B5EF4-FFF2-40B4-BE49-F238E27FC236}">
                <a16:creationId xmlns:a16="http://schemas.microsoft.com/office/drawing/2014/main" id="{4311F17B-3531-0C42-7007-EE594C9F1DAF}"/>
              </a:ext>
            </a:extLst>
          </p:cNvPr>
          <p:cNvSpPr/>
          <p:nvPr/>
        </p:nvSpPr>
        <p:spPr>
          <a:xfrm>
            <a:off x="8177784" y="3063240"/>
            <a:ext cx="3617976" cy="777240"/>
          </a:xfrm>
          <a:prstGeom prst="rect">
            <a:avLst/>
          </a:prstGeom>
          <a:solidFill>
            <a:srgbClr val="E8ECF4"/>
          </a:solidFill>
          <a:ln w="6350">
            <a:solidFill>
              <a:srgbClr val="0D17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B97C8BB-36C0-7717-B87E-94175E4488BE}"/>
              </a:ext>
            </a:extLst>
          </p:cNvPr>
          <p:cNvSpPr txBox="1"/>
          <p:nvPr/>
        </p:nvSpPr>
        <p:spPr>
          <a:xfrm>
            <a:off x="8314944" y="3274569"/>
            <a:ext cx="3343656" cy="40030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lang="ko-KR" altLang="en-US" sz="105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청약철회 </a:t>
            </a:r>
            <a:r>
              <a:rPr lang="en-US" altLang="ko-KR" sz="105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/ </a:t>
            </a:r>
            <a:r>
              <a:rPr lang="ko-KR" altLang="en-US" sz="105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환불사유 </a:t>
            </a:r>
            <a:r>
              <a:rPr lang="en-US" altLang="ko-KR" sz="105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/ </a:t>
            </a:r>
            <a:r>
              <a:rPr lang="ko-KR" altLang="en-US" sz="105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처리절차 </a:t>
            </a:r>
            <a:r>
              <a:rPr lang="en-US" altLang="ko-KR" sz="105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/
</a:t>
            </a:r>
            <a:r>
              <a:rPr lang="ko-KR" altLang="en-US" sz="105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신청방법 </a:t>
            </a:r>
            <a:r>
              <a:rPr lang="en-US" altLang="ko-KR" sz="105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/ </a:t>
            </a:r>
            <a:r>
              <a:rPr lang="ko-KR" altLang="en-US" sz="105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소요기간 명시</a:t>
            </a:r>
          </a:p>
        </p:txBody>
      </p:sp>
      <p:pic>
        <p:nvPicPr>
          <p:cNvPr id="34" name="Picture 3" descr="logo_navy_horizontal.png">
            <a:extLst>
              <a:ext uri="{FF2B5EF4-FFF2-40B4-BE49-F238E27FC236}">
                <a16:creationId xmlns:a16="http://schemas.microsoft.com/office/drawing/2014/main" id="{C7309612-DCB2-8DAF-07C4-28DE2354B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7664" y="109728"/>
            <a:ext cx="1014984" cy="411480"/>
          </a:xfrm>
          <a:prstGeom prst="rect">
            <a:avLst/>
          </a:prstGeom>
        </p:spPr>
      </p:pic>
      <p:pic>
        <p:nvPicPr>
          <p:cNvPr id="35" name="Picture 34" descr="S4_1_서비스소개서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936" y="3886200"/>
            <a:ext cx="3498111" cy="2148840"/>
          </a:xfrm>
          <a:prstGeom prst="rect">
            <a:avLst/>
          </a:prstGeom>
        </p:spPr>
      </p:pic>
      <p:pic>
        <p:nvPicPr>
          <p:cNvPr id="36" name="Picture 35" descr="04_푸터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4256700"/>
            <a:ext cx="3566160" cy="1407838"/>
          </a:xfrm>
          <a:prstGeom prst="rect">
            <a:avLst/>
          </a:prstGeom>
        </p:spPr>
      </p:pic>
      <p:pic>
        <p:nvPicPr>
          <p:cNvPr id="37" name="Picture 36" descr="S4_3_환불약관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2772" y="3886200"/>
            <a:ext cx="3008376" cy="214884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93192" y="6126480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07533F"/>
                </a:solidFill>
                <a:latin typeface="Malgun Gothic"/>
              </a:rPr>
              <a:t>서비스 소개 · 결제 · 정산 프로세스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0" y="6126480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07533F"/>
                </a:solidFill>
                <a:latin typeface="Malgun Gothic"/>
              </a:rPr>
              <a:t>홈페이지 하단 사업자 정보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6126480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07533F"/>
                </a:solidFill>
                <a:latin typeface="Malgun Gothic"/>
              </a:rPr>
              <a:t>이용약관 제5조 청약철회·환불 규정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265176"/>
            <a:ext cx="2057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E2137"/>
                </a:solidFill>
                <a:latin typeface="Pretendard Light"/>
                <a:ea typeface="Pretendard Light"/>
                <a:cs typeface="Pretendard Light"/>
              </a:rPr>
              <a:t>3) 결제 경로 가이드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795528"/>
            <a:ext cx="707440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ID/PW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로그인부터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결제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완료까지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전체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흐름이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모두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노출되어야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합니다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632" y="6611112"/>
            <a:ext cx="325526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19191"/>
                </a:solidFill>
                <a:latin typeface="Pretendard Light"/>
                <a:ea typeface="Pretendard Light"/>
                <a:cs typeface="Pretendard Light"/>
              </a:rPr>
              <a:t>© Korea Payment Networks Limited All Right Reserved.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90304" y="6574536"/>
            <a:ext cx="274320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19191"/>
                </a:solidFill>
                <a:latin typeface="Pretendard Light"/>
                <a:ea typeface="Pretendard Light"/>
                <a:cs typeface="Pretendard Light"/>
              </a:rPr>
              <a:t>5</a:t>
            </a: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74D2E245-1A9E-675E-6F39-BE4696F24385}"/>
              </a:ext>
            </a:extLst>
          </p:cNvPr>
          <p:cNvGrpSpPr/>
          <p:nvPr/>
        </p:nvGrpSpPr>
        <p:grpSpPr>
          <a:xfrm>
            <a:off x="393192" y="2606040"/>
            <a:ext cx="2103120" cy="1024128"/>
            <a:chOff x="472287" y="2606040"/>
            <a:chExt cx="2103120" cy="1024128"/>
          </a:xfrm>
        </p:grpSpPr>
        <p:sp>
          <p:nvSpPr>
            <p:cNvPr id="7" name="Rectangle 6"/>
            <p:cNvSpPr/>
            <p:nvPr/>
          </p:nvSpPr>
          <p:spPr>
            <a:xfrm>
              <a:off x="472287" y="2606040"/>
              <a:ext cx="2103120" cy="365760"/>
            </a:xfrm>
            <a:prstGeom prst="rect">
              <a:avLst/>
            </a:prstGeom>
            <a:solidFill>
              <a:srgbClr val="0D1741"/>
            </a:solidFill>
            <a:ln>
              <a:solidFill>
                <a:srgbClr val="0D17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83703" y="2714033"/>
              <a:ext cx="1080288" cy="161583"/>
            </a:xfrm>
            <a:prstGeom prst="rect">
              <a:avLst/>
            </a:prstGeom>
            <a:noFill/>
            <a:ln w="12700">
              <a:solidFill>
                <a:srgbClr val="0D1741"/>
              </a:solidFill>
            </a:ln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STEP 1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72287" y="2971800"/>
              <a:ext cx="2103120" cy="640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D17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72287" y="2990088"/>
              <a:ext cx="2103120" cy="6400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250" b="1">
                  <a:solidFill>
                    <a:srgbClr val="0D1741"/>
                  </a:solidFill>
                  <a:latin typeface="Pretendard"/>
                  <a:ea typeface="Pretendard"/>
                  <a:cs typeface="Pretendard"/>
                </a:rPr>
                <a:t>로그인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2496312" y="2944368"/>
            <a:ext cx="219456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dirty="0">
                <a:solidFill>
                  <a:srgbClr val="BFBFBF"/>
                </a:solidFill>
                <a:latin typeface="Pretendard"/>
                <a:ea typeface="Pretendard"/>
                <a:cs typeface="Pretendard"/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1174" y="2944368"/>
            <a:ext cx="219456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dirty="0">
                <a:solidFill>
                  <a:srgbClr val="BFBFBF"/>
                </a:solidFill>
                <a:latin typeface="Pretendard"/>
                <a:ea typeface="Pretendard"/>
                <a:cs typeface="Pretendard"/>
              </a:rPr>
              <a:t>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46036" y="2944368"/>
            <a:ext cx="219456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dirty="0">
                <a:solidFill>
                  <a:srgbClr val="BFBFBF"/>
                </a:solidFill>
                <a:latin typeface="Pretendard"/>
                <a:ea typeface="Pretendard"/>
                <a:cs typeface="Pretendard"/>
              </a:rPr>
              <a:t>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70898" y="2944368"/>
            <a:ext cx="219456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dirty="0">
                <a:solidFill>
                  <a:srgbClr val="BFBFBF"/>
                </a:solidFill>
                <a:latin typeface="Pretendard"/>
                <a:ea typeface="Pretendard"/>
                <a:cs typeface="Pretendard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192" y="3794760"/>
            <a:ext cx="5564124" cy="457200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7688" y="3927180"/>
            <a:ext cx="5255133" cy="192360"/>
          </a:xfrm>
          <a:prstGeom prst="rect">
            <a:avLst/>
          </a:prstGeom>
          <a:noFill/>
          <a:ln>
            <a:solidFill>
              <a:srgbClr val="C0392B"/>
            </a:solidFill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✕  </a:t>
            </a:r>
            <a:r>
              <a:rPr sz="125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잘못된</a:t>
            </a:r>
            <a:r>
              <a:rPr sz="125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예시</a:t>
            </a:r>
            <a:r>
              <a:rPr sz="125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(</a:t>
            </a:r>
            <a:r>
              <a:rPr sz="125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인정</a:t>
            </a:r>
            <a:r>
              <a:rPr sz="125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불가</a:t>
            </a:r>
            <a:r>
              <a:rPr sz="125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3192" y="4251960"/>
            <a:ext cx="5564124" cy="2011680"/>
          </a:xfrm>
          <a:prstGeom prst="rect">
            <a:avLst/>
          </a:prstGeom>
          <a:solidFill>
            <a:srgbClr val="FDECEA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76072" y="4434840"/>
            <a:ext cx="5198364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•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결제수단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카드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계좌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등)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버튼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클릭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시</a:t>
            </a:r>
          </a:p>
          <a:p>
            <a:pPr algn="l">
              <a:lnSpc>
                <a:spcPct val="130000"/>
              </a:lnSpc>
            </a:pP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  PG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결제창이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노출되지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않음</a:t>
            </a:r>
            <a:endParaRPr sz="105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0000"/>
              </a:lnSpc>
            </a:pPr>
            <a:endParaRPr sz="105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0000"/>
              </a:lnSpc>
            </a:pP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•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곧바로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"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결제가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완료되었습니다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"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화면으로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이동</a:t>
            </a:r>
            <a:endParaRPr sz="105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0000"/>
              </a:lnSpc>
            </a:pPr>
            <a:endParaRPr sz="105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0000"/>
              </a:lnSpc>
            </a:pP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• 실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결제창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연동이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확인되지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않아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심사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통과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불가</a:t>
            </a:r>
            <a:endParaRPr sz="105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231636" y="3794760"/>
            <a:ext cx="5564124" cy="457200"/>
          </a:xfrm>
          <a:prstGeom prst="rect">
            <a:avLst/>
          </a:prstGeom>
          <a:solidFill>
            <a:srgbClr val="1F734E"/>
          </a:solidFill>
          <a:ln>
            <a:solidFill>
              <a:srgbClr val="1F7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31636" y="3927180"/>
            <a:ext cx="5564124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  </a:t>
            </a:r>
            <a:r>
              <a:rPr sz="125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올바른</a:t>
            </a:r>
            <a:r>
              <a:rPr sz="125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예시</a:t>
            </a:r>
            <a:r>
              <a:rPr sz="125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(</a:t>
            </a:r>
            <a:r>
              <a:rPr sz="125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인정</a:t>
            </a:r>
            <a:r>
              <a:rPr sz="125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가능</a:t>
            </a:r>
            <a:r>
              <a:rPr sz="125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31636" y="4251960"/>
            <a:ext cx="5564124" cy="2011680"/>
          </a:xfrm>
          <a:prstGeom prst="rect">
            <a:avLst/>
          </a:prstGeom>
          <a:solidFill>
            <a:srgbClr val="E8F5EE"/>
          </a:solidFill>
          <a:ln w="9525">
            <a:solidFill>
              <a:srgbClr val="1F7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14516" y="4434840"/>
            <a:ext cx="5198364" cy="12405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•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결제수단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버튼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클릭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시</a:t>
            </a:r>
          </a:p>
          <a:p>
            <a:pPr algn="l">
              <a:lnSpc>
                <a:spcPct val="130000"/>
              </a:lnSpc>
            </a:pP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 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당사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(KPN) PG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결제창이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정상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노출</a:t>
            </a:r>
            <a:endParaRPr sz="105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0000"/>
              </a:lnSpc>
            </a:pPr>
            <a:endParaRPr sz="105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0000"/>
              </a:lnSpc>
            </a:pP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•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카드사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선택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/ </a:t>
            </a:r>
            <a:r>
              <a:rPr lang="ko-KR" altLang="en-US"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카드사 인증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화면까지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캡처에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포함</a:t>
            </a:r>
            <a:endParaRPr sz="105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0000"/>
              </a:lnSpc>
            </a:pPr>
            <a:endParaRPr sz="105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0000"/>
              </a:lnSpc>
            </a:pP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•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결제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완료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화면도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함께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첨부</a:t>
            </a:r>
            <a:endParaRPr lang="en-US" sz="105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93192" y="6355080"/>
            <a:ext cx="114025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※ TEST ID/PW를 제공해 주시면 KPN에서도 동일 흐름을 검수할 수 있습니다.</a:t>
            </a: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FA192763-6A27-7492-CDA9-B965EA9E1F5E}"/>
              </a:ext>
            </a:extLst>
          </p:cNvPr>
          <p:cNvGrpSpPr/>
          <p:nvPr/>
        </p:nvGrpSpPr>
        <p:grpSpPr>
          <a:xfrm>
            <a:off x="2718054" y="2606040"/>
            <a:ext cx="2103120" cy="1005840"/>
            <a:chOff x="472287" y="2606040"/>
            <a:chExt cx="2103120" cy="1005840"/>
          </a:xfrm>
        </p:grpSpPr>
        <p:sp>
          <p:nvSpPr>
            <p:cNvPr id="42" name="Rectangle 6">
              <a:extLst>
                <a:ext uri="{FF2B5EF4-FFF2-40B4-BE49-F238E27FC236}">
                  <a16:creationId xmlns:a16="http://schemas.microsoft.com/office/drawing/2014/main" id="{72BE8CAC-1BC8-EFD7-ED85-6906F5256F17}"/>
                </a:ext>
              </a:extLst>
            </p:cNvPr>
            <p:cNvSpPr/>
            <p:nvPr/>
          </p:nvSpPr>
          <p:spPr>
            <a:xfrm>
              <a:off x="472287" y="2606040"/>
              <a:ext cx="2103120" cy="365760"/>
            </a:xfrm>
            <a:prstGeom prst="rect">
              <a:avLst/>
            </a:prstGeom>
            <a:solidFill>
              <a:srgbClr val="0D1741"/>
            </a:solidFill>
            <a:ln>
              <a:solidFill>
                <a:srgbClr val="0D17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96D4DC8-4557-D403-E380-452A9274BC21}"/>
                </a:ext>
              </a:extLst>
            </p:cNvPr>
            <p:cNvSpPr txBox="1"/>
            <p:nvPr/>
          </p:nvSpPr>
          <p:spPr>
            <a:xfrm>
              <a:off x="983703" y="2714033"/>
              <a:ext cx="1080288" cy="161583"/>
            </a:xfrm>
            <a:prstGeom prst="rect">
              <a:avLst/>
            </a:prstGeom>
            <a:noFill/>
            <a:ln w="12700">
              <a:solidFill>
                <a:srgbClr val="0D1741"/>
              </a:solidFill>
            </a:ln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altLang="ko-KR" sz="105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STEP 2</a:t>
              </a:r>
            </a:p>
          </p:txBody>
        </p:sp>
        <p:sp>
          <p:nvSpPr>
            <p:cNvPr id="44" name="Rectangle 8">
              <a:extLst>
                <a:ext uri="{FF2B5EF4-FFF2-40B4-BE49-F238E27FC236}">
                  <a16:creationId xmlns:a16="http://schemas.microsoft.com/office/drawing/2014/main" id="{C67018FB-5DC3-2FE0-B4D7-1FCF0277EA01}"/>
                </a:ext>
              </a:extLst>
            </p:cNvPr>
            <p:cNvSpPr/>
            <p:nvPr/>
          </p:nvSpPr>
          <p:spPr>
            <a:xfrm>
              <a:off x="472287" y="2971800"/>
              <a:ext cx="2103120" cy="640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D17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BC9C69F-3AE4-EC59-9241-D5571BC41B2A}"/>
                </a:ext>
              </a:extLst>
            </p:cNvPr>
            <p:cNvSpPr txBox="1"/>
            <p:nvPr/>
          </p:nvSpPr>
          <p:spPr>
            <a:xfrm>
              <a:off x="472287" y="3213948"/>
              <a:ext cx="2103120" cy="1923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ko-KR" altLang="en-US" sz="1250" b="1" dirty="0">
                  <a:solidFill>
                    <a:srgbClr val="0D1741"/>
                  </a:solidFill>
                  <a:latin typeface="Pretendard"/>
                  <a:ea typeface="Pretendard"/>
                  <a:cs typeface="Pretendard"/>
                </a:rPr>
                <a:t>상품 선택</a:t>
              </a: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C45F4E03-40D7-07F3-DF0A-F5E678E29CEB}"/>
              </a:ext>
            </a:extLst>
          </p:cNvPr>
          <p:cNvGrpSpPr/>
          <p:nvPr/>
        </p:nvGrpSpPr>
        <p:grpSpPr>
          <a:xfrm>
            <a:off x="5042916" y="2606040"/>
            <a:ext cx="2103120" cy="1005840"/>
            <a:chOff x="472287" y="2606040"/>
            <a:chExt cx="2103120" cy="1005840"/>
          </a:xfrm>
        </p:grpSpPr>
        <p:sp>
          <p:nvSpPr>
            <p:cNvPr id="47" name="Rectangle 6">
              <a:extLst>
                <a:ext uri="{FF2B5EF4-FFF2-40B4-BE49-F238E27FC236}">
                  <a16:creationId xmlns:a16="http://schemas.microsoft.com/office/drawing/2014/main" id="{BBDF5AA4-E6A9-F756-3B92-F4AF7ECEC7B6}"/>
                </a:ext>
              </a:extLst>
            </p:cNvPr>
            <p:cNvSpPr/>
            <p:nvPr/>
          </p:nvSpPr>
          <p:spPr>
            <a:xfrm>
              <a:off x="472287" y="2606040"/>
              <a:ext cx="2103120" cy="365760"/>
            </a:xfrm>
            <a:prstGeom prst="rect">
              <a:avLst/>
            </a:prstGeom>
            <a:solidFill>
              <a:srgbClr val="0D1741"/>
            </a:solidFill>
            <a:ln>
              <a:solidFill>
                <a:srgbClr val="0D17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38A4F08-DFE1-3025-99F9-3A819348A43B}"/>
                </a:ext>
              </a:extLst>
            </p:cNvPr>
            <p:cNvSpPr txBox="1"/>
            <p:nvPr/>
          </p:nvSpPr>
          <p:spPr>
            <a:xfrm>
              <a:off x="983703" y="2714033"/>
              <a:ext cx="1080288" cy="161583"/>
            </a:xfrm>
            <a:prstGeom prst="rect">
              <a:avLst/>
            </a:prstGeom>
            <a:noFill/>
            <a:ln w="12700">
              <a:solidFill>
                <a:srgbClr val="0D1741"/>
              </a:solidFill>
            </a:ln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altLang="ko-KR" sz="105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STEP 3</a:t>
              </a:r>
            </a:p>
          </p:txBody>
        </p:sp>
        <p:sp>
          <p:nvSpPr>
            <p:cNvPr id="49" name="Rectangle 8">
              <a:extLst>
                <a:ext uri="{FF2B5EF4-FFF2-40B4-BE49-F238E27FC236}">
                  <a16:creationId xmlns:a16="http://schemas.microsoft.com/office/drawing/2014/main" id="{2F0ED128-AB68-6496-54A7-00DEAC6528B9}"/>
                </a:ext>
              </a:extLst>
            </p:cNvPr>
            <p:cNvSpPr/>
            <p:nvPr/>
          </p:nvSpPr>
          <p:spPr>
            <a:xfrm>
              <a:off x="472287" y="2971800"/>
              <a:ext cx="2103120" cy="640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D17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B3BA7BC-690C-D29B-5AF9-D0532BBB7670}"/>
                </a:ext>
              </a:extLst>
            </p:cNvPr>
            <p:cNvSpPr txBox="1"/>
            <p:nvPr/>
          </p:nvSpPr>
          <p:spPr>
            <a:xfrm>
              <a:off x="472287" y="3213948"/>
              <a:ext cx="2103120" cy="1923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ko-KR" altLang="en-US" sz="1250" b="1" dirty="0">
                  <a:solidFill>
                    <a:srgbClr val="0D1741"/>
                  </a:solidFill>
                  <a:latin typeface="Pretendard"/>
                  <a:ea typeface="Pretendard"/>
                  <a:cs typeface="Pretendard"/>
                </a:rPr>
                <a:t>결제수단 선택</a:t>
              </a: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67C5C2F5-5969-E91A-5B93-1EA9D4AF33FC}"/>
              </a:ext>
            </a:extLst>
          </p:cNvPr>
          <p:cNvGrpSpPr/>
          <p:nvPr/>
        </p:nvGrpSpPr>
        <p:grpSpPr>
          <a:xfrm>
            <a:off x="9692640" y="2606040"/>
            <a:ext cx="2103120" cy="1005840"/>
            <a:chOff x="472287" y="2606040"/>
            <a:chExt cx="2103120" cy="1005840"/>
          </a:xfrm>
        </p:grpSpPr>
        <p:sp>
          <p:nvSpPr>
            <p:cNvPr id="57" name="Rectangle 6">
              <a:extLst>
                <a:ext uri="{FF2B5EF4-FFF2-40B4-BE49-F238E27FC236}">
                  <a16:creationId xmlns:a16="http://schemas.microsoft.com/office/drawing/2014/main" id="{D43DBEE3-E7AB-4170-6BDF-AFF85CE1DF18}"/>
                </a:ext>
              </a:extLst>
            </p:cNvPr>
            <p:cNvSpPr/>
            <p:nvPr/>
          </p:nvSpPr>
          <p:spPr>
            <a:xfrm>
              <a:off x="472287" y="2606040"/>
              <a:ext cx="2103120" cy="365760"/>
            </a:xfrm>
            <a:prstGeom prst="rect">
              <a:avLst/>
            </a:prstGeom>
            <a:solidFill>
              <a:srgbClr val="0D1741"/>
            </a:solidFill>
            <a:ln>
              <a:solidFill>
                <a:srgbClr val="0D17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0073FC9-43C9-D2BC-B7D4-09567A82DDD4}"/>
                </a:ext>
              </a:extLst>
            </p:cNvPr>
            <p:cNvSpPr txBox="1"/>
            <p:nvPr/>
          </p:nvSpPr>
          <p:spPr>
            <a:xfrm>
              <a:off x="983703" y="2714033"/>
              <a:ext cx="1080288" cy="161583"/>
            </a:xfrm>
            <a:prstGeom prst="rect">
              <a:avLst/>
            </a:prstGeom>
            <a:noFill/>
            <a:ln w="12700">
              <a:solidFill>
                <a:srgbClr val="0D1741"/>
              </a:solidFill>
            </a:ln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altLang="ko-KR" sz="105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STEP 5</a:t>
              </a:r>
            </a:p>
          </p:txBody>
        </p:sp>
        <p:sp>
          <p:nvSpPr>
            <p:cNvPr id="59" name="Rectangle 8">
              <a:extLst>
                <a:ext uri="{FF2B5EF4-FFF2-40B4-BE49-F238E27FC236}">
                  <a16:creationId xmlns:a16="http://schemas.microsoft.com/office/drawing/2014/main" id="{080571B5-1436-87C2-9B63-9A0696EF1EC5}"/>
                </a:ext>
              </a:extLst>
            </p:cNvPr>
            <p:cNvSpPr/>
            <p:nvPr/>
          </p:nvSpPr>
          <p:spPr>
            <a:xfrm>
              <a:off x="472287" y="2971800"/>
              <a:ext cx="2103120" cy="640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D17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5F8C3C34-7431-A73A-05D3-45D7975170A0}"/>
                </a:ext>
              </a:extLst>
            </p:cNvPr>
            <p:cNvSpPr txBox="1"/>
            <p:nvPr/>
          </p:nvSpPr>
          <p:spPr>
            <a:xfrm>
              <a:off x="472287" y="3213948"/>
              <a:ext cx="2103120" cy="1923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ko-KR" altLang="en-US" sz="1250" b="1" dirty="0">
                  <a:solidFill>
                    <a:srgbClr val="0D1741"/>
                  </a:solidFill>
                  <a:latin typeface="Pretendard"/>
                  <a:ea typeface="Pretendard"/>
                  <a:cs typeface="Pretendard"/>
                </a:rPr>
                <a:t>결제 완료</a:t>
              </a: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E4A2DCAA-7A05-F0BD-D344-ECFAAEF1F27B}"/>
              </a:ext>
            </a:extLst>
          </p:cNvPr>
          <p:cNvGrpSpPr/>
          <p:nvPr/>
        </p:nvGrpSpPr>
        <p:grpSpPr>
          <a:xfrm>
            <a:off x="7367778" y="2606040"/>
            <a:ext cx="2103120" cy="1005840"/>
            <a:chOff x="472287" y="2606040"/>
            <a:chExt cx="2103120" cy="1005840"/>
          </a:xfrm>
        </p:grpSpPr>
        <p:sp>
          <p:nvSpPr>
            <p:cNvPr id="62" name="Rectangle 6">
              <a:extLst>
                <a:ext uri="{FF2B5EF4-FFF2-40B4-BE49-F238E27FC236}">
                  <a16:creationId xmlns:a16="http://schemas.microsoft.com/office/drawing/2014/main" id="{FD453805-EB87-2421-D533-0D454A332BAB}"/>
                </a:ext>
              </a:extLst>
            </p:cNvPr>
            <p:cNvSpPr/>
            <p:nvPr/>
          </p:nvSpPr>
          <p:spPr>
            <a:xfrm>
              <a:off x="472287" y="2606040"/>
              <a:ext cx="2103120" cy="365760"/>
            </a:xfrm>
            <a:prstGeom prst="rect">
              <a:avLst/>
            </a:prstGeom>
            <a:solidFill>
              <a:srgbClr val="B07110"/>
            </a:solidFill>
            <a:ln>
              <a:solidFill>
                <a:srgbClr val="0D17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543953E-338D-89CE-D2D4-471762087D87}"/>
                </a:ext>
              </a:extLst>
            </p:cNvPr>
            <p:cNvSpPr txBox="1"/>
            <p:nvPr/>
          </p:nvSpPr>
          <p:spPr>
            <a:xfrm>
              <a:off x="983703" y="2714033"/>
              <a:ext cx="1080288" cy="161583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altLang="ko-KR" sz="105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STEP 4</a:t>
              </a:r>
            </a:p>
          </p:txBody>
        </p:sp>
        <p:sp>
          <p:nvSpPr>
            <p:cNvPr id="64" name="Rectangle 8">
              <a:extLst>
                <a:ext uri="{FF2B5EF4-FFF2-40B4-BE49-F238E27FC236}">
                  <a16:creationId xmlns:a16="http://schemas.microsoft.com/office/drawing/2014/main" id="{9E0B6D89-E79E-F006-3875-83A81CD93E23}"/>
                </a:ext>
              </a:extLst>
            </p:cNvPr>
            <p:cNvSpPr/>
            <p:nvPr/>
          </p:nvSpPr>
          <p:spPr>
            <a:xfrm>
              <a:off x="472287" y="2971800"/>
              <a:ext cx="2103120" cy="640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071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1CABE876-11EE-1F88-752D-88C1F8CD4874}"/>
                </a:ext>
              </a:extLst>
            </p:cNvPr>
            <p:cNvSpPr txBox="1"/>
            <p:nvPr/>
          </p:nvSpPr>
          <p:spPr>
            <a:xfrm>
              <a:off x="472287" y="3213948"/>
              <a:ext cx="2103120" cy="1923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ko-KR" altLang="en-US" sz="1250" b="1" dirty="0" err="1">
                  <a:solidFill>
                    <a:srgbClr val="B07110"/>
                  </a:solidFill>
                  <a:latin typeface="Pretendard"/>
                  <a:ea typeface="Pretendard"/>
                  <a:cs typeface="Pretendard"/>
                </a:rPr>
                <a:t>결제창</a:t>
              </a:r>
              <a:r>
                <a:rPr lang="ko-KR" altLang="en-US" sz="1250" b="1" dirty="0">
                  <a:solidFill>
                    <a:srgbClr val="B07110"/>
                  </a:solidFill>
                  <a:latin typeface="Pretendard"/>
                  <a:ea typeface="Pretendard"/>
                  <a:cs typeface="Pretendard"/>
                </a:rPr>
                <a:t> 노출</a:t>
              </a:r>
            </a:p>
          </p:txBody>
        </p:sp>
      </p:grpSp>
      <p:pic>
        <p:nvPicPr>
          <p:cNvPr id="71" name="Picture 3" descr="logo_navy_horizontal.png">
            <a:extLst>
              <a:ext uri="{FF2B5EF4-FFF2-40B4-BE49-F238E27FC236}">
                <a16:creationId xmlns:a16="http://schemas.microsoft.com/office/drawing/2014/main" id="{B74DAC12-AA32-8EC4-8F19-D2DF18551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7664" y="109728"/>
            <a:ext cx="1014984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265176"/>
            <a:ext cx="2057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E2137"/>
                </a:solidFill>
                <a:latin typeface="Pretendard Light"/>
                <a:ea typeface="Pretendard Light"/>
                <a:cs typeface="Pretendard Light"/>
              </a:rPr>
              <a:t>3) 결제수단별 첨부 안내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795528"/>
            <a:ext cx="11402568" cy="1591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결제수단을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다중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신청하는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경우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각각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별도의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결제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프로세스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캡처가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필수입니다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632" y="6611112"/>
            <a:ext cx="325526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19191"/>
                </a:solidFill>
                <a:latin typeface="Pretendard Light"/>
                <a:ea typeface="Pretendard Light"/>
                <a:cs typeface="Pretendard Light"/>
              </a:rPr>
              <a:t>© Korea Payment Networks Limited All Right Reserved.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90304" y="6574536"/>
            <a:ext cx="274320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19191"/>
                </a:solidFill>
                <a:latin typeface="Pretendard Light"/>
                <a:ea typeface="Pretendard Light"/>
                <a:cs typeface="Pretendard Light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" y="2542032"/>
            <a:ext cx="11402568" cy="502920"/>
          </a:xfrm>
          <a:prstGeom prst="roundRect">
            <a:avLst>
              <a:gd name="adj" fmla="val 15000"/>
            </a:avLst>
          </a:prstGeom>
          <a:solidFill>
            <a:srgbClr val="FFF7DC"/>
          </a:solidFill>
          <a:ln w="9525">
            <a:solidFill>
              <a:srgbClr val="B071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542032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⚠️  </a:t>
            </a:r>
            <a:r>
              <a:rPr sz="12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미첨부</a:t>
            </a:r>
            <a:r>
              <a:rPr sz="12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 시 </a:t>
            </a:r>
            <a:r>
              <a:rPr sz="12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심사</a:t>
            </a:r>
            <a:r>
              <a:rPr sz="12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불가</a:t>
            </a:r>
            <a:r>
              <a:rPr sz="12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 — </a:t>
            </a:r>
            <a:r>
              <a:rPr sz="12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신청하신</a:t>
            </a:r>
            <a:r>
              <a:rPr sz="12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결제수단에</a:t>
            </a:r>
            <a:r>
              <a:rPr sz="12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해당하는</a:t>
            </a:r>
            <a:r>
              <a:rPr sz="12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슬라이드를</a:t>
            </a:r>
            <a:r>
              <a:rPr sz="12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모두</a:t>
            </a:r>
            <a:r>
              <a:rPr sz="12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작성해</a:t>
            </a:r>
            <a:r>
              <a:rPr sz="12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주세요</a:t>
            </a:r>
            <a:r>
              <a:rPr sz="12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" y="3246120"/>
            <a:ext cx="5564124" cy="502920"/>
          </a:xfrm>
          <a:prstGeom prst="rect">
            <a:avLst/>
          </a:prstGeom>
          <a:solidFill>
            <a:srgbClr val="0D1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3192" y="3246120"/>
            <a:ext cx="5564124" cy="502920"/>
          </a:xfrm>
          <a:prstGeom prst="rect">
            <a:avLst/>
          </a:prstGeom>
          <a:noFill/>
          <a:ln>
            <a:solidFill>
              <a:srgbClr val="0D1741"/>
            </a:solidFill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Ⓐ  인증 단건결제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" y="3749039"/>
            <a:ext cx="5564124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0D17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6072" y="3931920"/>
            <a:ext cx="51983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필수 캡처 :  카드사 인증창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4343400"/>
            <a:ext cx="5198364" cy="13482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• </a:t>
            </a:r>
            <a:r>
              <a:rPr lang="ko-KR" altLang="en-US"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단건결제</a:t>
            </a:r>
            <a:r>
              <a:rPr lang="ko-KR" altLang="en-US"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상품 선택 후 결제 페이지 진입</a:t>
            </a:r>
            <a:endParaRPr lang="en-US" sz="110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>
              <a:lnSpc>
                <a:spcPct val="135000"/>
              </a:lnSpc>
            </a:pPr>
            <a:r>
              <a:rPr lang="en-US" altLang="ko-KR" sz="110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•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결제수단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선택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→ KPN PG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결제창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노출</a:t>
            </a:r>
            <a:endParaRPr sz="110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>
              <a:lnSpc>
                <a:spcPct val="135000"/>
              </a:lnSpc>
            </a:pP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•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카드사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선택</a:t>
            </a:r>
            <a:r>
              <a:rPr lang="ko-KR" altLang="en-US" sz="110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→ </a:t>
            </a:r>
            <a:r>
              <a:rPr lang="en-US" altLang="ko-KR" sz="110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ARS / </a:t>
            </a:r>
            <a:r>
              <a:rPr lang="ko-KR" altLang="en-US" sz="110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앱카드</a:t>
            </a:r>
            <a:r>
              <a:rPr lang="ko-KR" altLang="en-US" sz="110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10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/ </a:t>
            </a:r>
            <a:r>
              <a:rPr lang="ko-KR" altLang="en-US" sz="110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휴대폰 </a:t>
            </a:r>
            <a:r>
              <a:rPr lang="ko-KR" altLang="en-US" sz="110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인증창</a:t>
            </a:r>
            <a:endParaRPr lang="en-US" sz="110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5000"/>
              </a:lnSpc>
            </a:pP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•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결제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완료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화면</a:t>
            </a:r>
            <a:endParaRPr sz="110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5000"/>
              </a:lnSpc>
            </a:pPr>
            <a:endParaRPr sz="110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5000"/>
              </a:lnSpc>
            </a:pP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→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슬라이드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7  「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인증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단건결제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캡처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첨부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」 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작성</a:t>
            </a:r>
            <a:endParaRPr sz="110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231636" y="3246120"/>
            <a:ext cx="5564124" cy="502920"/>
          </a:xfrm>
          <a:prstGeom prst="rect">
            <a:avLst/>
          </a:prstGeom>
          <a:solidFill>
            <a:srgbClr val="0D1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31636" y="3246120"/>
            <a:ext cx="5564124" cy="502920"/>
          </a:xfrm>
          <a:prstGeom prst="rect">
            <a:avLst/>
          </a:prstGeom>
          <a:noFill/>
          <a:ln>
            <a:solidFill>
              <a:srgbClr val="0D1741"/>
            </a:solidFill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Ⓑ  정기결제(빌키)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1636" y="3749039"/>
            <a:ext cx="5564124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0D17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4516" y="3931920"/>
            <a:ext cx="51983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필수 캡처 :  카드 등록(빌키 발급) 화면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4516" y="4343400"/>
            <a:ext cx="5198364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•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정기결제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카드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등록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페이지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진입</a:t>
            </a:r>
            <a:endParaRPr sz="110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5000"/>
              </a:lnSpc>
            </a:pP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•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카드번호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/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유효기간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/ CVC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입력</a:t>
            </a:r>
            <a:endParaRPr sz="110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5000"/>
              </a:lnSpc>
            </a:pP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•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본인인증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(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필요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시)</a:t>
            </a:r>
          </a:p>
          <a:p>
            <a:pPr algn="l">
              <a:lnSpc>
                <a:spcPct val="135000"/>
              </a:lnSpc>
            </a:pP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•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카드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등록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완료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/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빌키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발급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완료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화면</a:t>
            </a:r>
            <a:endParaRPr sz="110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5000"/>
              </a:lnSpc>
            </a:pPr>
            <a:endParaRPr sz="110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5000"/>
              </a:lnSpc>
            </a:pP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→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슬라이드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8  「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정기결제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카드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등록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캡처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첨부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」 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작성</a:t>
            </a:r>
            <a:endParaRPr sz="110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93192" y="6355080"/>
            <a:ext cx="114025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※ 단건과 정기를 모두 신청한 경우 슬라이드 7, 8 모두 작성. 하나만 신청한 경우 해당 슬라이드만 작성.</a:t>
            </a:r>
          </a:p>
        </p:txBody>
      </p:sp>
      <p:pic>
        <p:nvPicPr>
          <p:cNvPr id="20" name="Picture 3" descr="logo_navy_horizontal.png">
            <a:extLst>
              <a:ext uri="{FF2B5EF4-FFF2-40B4-BE49-F238E27FC236}">
                <a16:creationId xmlns:a16="http://schemas.microsoft.com/office/drawing/2014/main" id="{F8B96524-D3B0-7477-16B6-E4E78FC19B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7664" y="109728"/>
            <a:ext cx="1014984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265176"/>
            <a:ext cx="2057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E2137"/>
                </a:solidFill>
                <a:latin typeface="Pretendard Light"/>
                <a:ea typeface="Pretendard Light"/>
                <a:cs typeface="Pretendard Light"/>
              </a:rPr>
              <a:t>3) 인증 단건결제 캡처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795528"/>
            <a:ext cx="1140256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Ⓐ</a:t>
            </a:r>
            <a:r>
              <a:rPr lang="en-US"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인증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단건결제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-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결제수단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선택부터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결제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완료까지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순서대로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첨부</a:t>
            </a:r>
            <a:endParaRPr sz="2000" b="1" dirty="0">
              <a:solidFill>
                <a:srgbClr val="0D1741"/>
              </a:solidFill>
              <a:latin typeface="Pretendard"/>
              <a:ea typeface="Pretendard"/>
              <a:cs typeface="Pretendard"/>
            </a:endParaRPr>
          </a:p>
        </p:txBody>
      </p:sp>
      <p:pic>
        <p:nvPicPr>
          <p:cNvPr id="4" name="Picture 3" descr="logo_navy_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7664" y="109728"/>
            <a:ext cx="1014984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85632" y="6611112"/>
            <a:ext cx="325526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19191"/>
                </a:solidFill>
                <a:latin typeface="Pretendard Light"/>
                <a:ea typeface="Pretendard Light"/>
                <a:cs typeface="Pretendard Light"/>
              </a:rPr>
              <a:t>© Korea Payment Networks Limited All Right Reserved.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90304" y="6574536"/>
            <a:ext cx="274320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19191"/>
                </a:solidFill>
                <a:latin typeface="Pretendard Light"/>
                <a:ea typeface="Pretendard Light"/>
                <a:cs typeface="Pretendard Light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2697480"/>
            <a:ext cx="2644902" cy="3383280"/>
          </a:xfrm>
          <a:prstGeom prst="rect">
            <a:avLst/>
          </a:prstGeom>
          <a:solidFill>
            <a:srgbClr val="F5F6F8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3192" y="4224528"/>
            <a:ext cx="264490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93192" y="6172200"/>
            <a:ext cx="264490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4632" y="6172200"/>
            <a:ext cx="246202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07533F"/>
                </a:solidFill>
                <a:latin typeface="Malgun Gothic"/>
              </a:rPr>
              <a:t>① 상품 선택 · 결제 진입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2414" y="2697480"/>
            <a:ext cx="2644902" cy="3383280"/>
          </a:xfrm>
          <a:prstGeom prst="rect">
            <a:avLst/>
          </a:prstGeom>
          <a:solidFill>
            <a:srgbClr val="F5F6F8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12414" y="4224528"/>
            <a:ext cx="264490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12414" y="6172200"/>
            <a:ext cx="264490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03854" y="6172200"/>
            <a:ext cx="246202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07533F"/>
                </a:solidFill>
                <a:latin typeface="Malgun Gothic"/>
              </a:rPr>
              <a:t>② KPN PG 결제창 노출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1636" y="2697480"/>
            <a:ext cx="2644902" cy="3383280"/>
          </a:xfrm>
          <a:prstGeom prst="rect">
            <a:avLst/>
          </a:prstGeom>
          <a:solidFill>
            <a:srgbClr val="F5F6F8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31636" y="4224528"/>
            <a:ext cx="264490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1636" y="6172200"/>
            <a:ext cx="264490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23075" y="6172200"/>
            <a:ext cx="246202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07533F"/>
                </a:solidFill>
                <a:latin typeface="Malgun Gothic"/>
              </a:rPr>
              <a:t>③ 카드사 선택 — 하나카드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50858" y="2697480"/>
            <a:ext cx="2644902" cy="3383280"/>
          </a:xfrm>
          <a:prstGeom prst="rect">
            <a:avLst/>
          </a:prstGeom>
          <a:solidFill>
            <a:srgbClr val="F5F6F8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50858" y="4224528"/>
            <a:ext cx="264490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50858" y="6172200"/>
            <a:ext cx="264490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42298" y="6172200"/>
            <a:ext cx="246202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07533F"/>
                </a:solidFill>
                <a:latin typeface="Malgun Gothic"/>
              </a:rPr>
              <a:t>④ 하나카드 인증 결제창</a:t>
            </a:r>
          </a:p>
        </p:txBody>
      </p:sp>
      <p:pic>
        <p:nvPicPr>
          <p:cNvPr id="23" name="Picture 22" descr="03_상품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962758"/>
            <a:ext cx="2560320" cy="2944163"/>
          </a:xfrm>
          <a:prstGeom prst="rect">
            <a:avLst/>
          </a:prstGeom>
        </p:spPr>
      </p:pic>
      <p:pic>
        <p:nvPicPr>
          <p:cNvPr id="24" name="Picture 23" descr="08_kpn_결제창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3010284"/>
            <a:ext cx="2560320" cy="2849110"/>
          </a:xfrm>
          <a:prstGeom prst="rect">
            <a:avLst/>
          </a:prstGeom>
        </p:spPr>
      </p:pic>
      <p:pic>
        <p:nvPicPr>
          <p:cNvPr id="25" name="Picture 24" descr="C_09_kpn_hana선택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3" y="2969356"/>
            <a:ext cx="2560320" cy="2930967"/>
          </a:xfrm>
          <a:prstGeom prst="rect">
            <a:avLst/>
          </a:prstGeom>
        </p:spPr>
      </p:pic>
      <p:pic>
        <p:nvPicPr>
          <p:cNvPr id="26" name="Picture 25" descr="C_10_hanacard_인증창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720" y="3360632"/>
            <a:ext cx="2560320" cy="21484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265176"/>
            <a:ext cx="2057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E2137"/>
                </a:solidFill>
                <a:latin typeface="Pretendard Light"/>
                <a:ea typeface="Pretendard Light"/>
                <a:cs typeface="Pretendard Light"/>
              </a:rPr>
              <a:t>3) 정기결제 카드 등록 캡처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795528"/>
            <a:ext cx="1140256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Ⓑ</a:t>
            </a:r>
            <a:r>
              <a:rPr lang="en-US"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정기결제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빌키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) </a:t>
            </a:r>
            <a:r>
              <a:rPr lang="en-US"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-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카드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등록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페이지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진입부터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빌키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발급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완료까지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첨부</a:t>
            </a:r>
            <a:endParaRPr sz="2000" b="1" dirty="0">
              <a:solidFill>
                <a:srgbClr val="0D174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485632" y="6611112"/>
            <a:ext cx="325526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19191"/>
                </a:solidFill>
                <a:latin typeface="Pretendard Light"/>
                <a:ea typeface="Pretendard Light"/>
                <a:cs typeface="Pretendard Light"/>
              </a:rPr>
              <a:t>© Korea Payment Networks Limited All Right Reserved.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90304" y="6574536"/>
            <a:ext cx="274320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19191"/>
                </a:solidFill>
                <a:latin typeface="Pretendard Light"/>
                <a:ea typeface="Pretendard Light"/>
                <a:cs typeface="Pretendard Light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2697480"/>
            <a:ext cx="2644902" cy="3383280"/>
          </a:xfrm>
          <a:prstGeom prst="rect">
            <a:avLst/>
          </a:prstGeom>
          <a:solidFill>
            <a:srgbClr val="F5F6F8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3192" y="4224528"/>
            <a:ext cx="264490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919191"/>
                </a:solidFill>
                <a:latin typeface="Pretendard"/>
                <a:ea typeface="Pretendard"/>
                <a:cs typeface="Pretendard"/>
              </a:rPr>
              <a:t>[ 캡처 #1  -  이미지 첨부 ]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" y="6172200"/>
            <a:ext cx="264490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4632" y="6172200"/>
            <a:ext cx="246202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919191"/>
                </a:solidFill>
                <a:latin typeface="Pretendard"/>
                <a:ea typeface="Pretendard"/>
                <a:cs typeface="Pretendard"/>
              </a:rPr>
              <a:t>Step (예: 카드 등록 진입 / 카드정보 입력 / 본인인증 / 등록 완료)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2414" y="2697480"/>
            <a:ext cx="2644902" cy="3383280"/>
          </a:xfrm>
          <a:prstGeom prst="rect">
            <a:avLst/>
          </a:prstGeom>
          <a:solidFill>
            <a:srgbClr val="F5F6F8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12414" y="4224528"/>
            <a:ext cx="264490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919191"/>
                </a:solidFill>
                <a:latin typeface="Pretendard"/>
                <a:ea typeface="Pretendard"/>
                <a:cs typeface="Pretendard"/>
              </a:rPr>
              <a:t>[ 캡처 #2  -  이미지 첨부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2414" y="6172200"/>
            <a:ext cx="264490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03854" y="6172200"/>
            <a:ext cx="246202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919191"/>
                </a:solidFill>
                <a:latin typeface="Pretendard"/>
                <a:ea typeface="Pretendard"/>
                <a:cs typeface="Pretendard"/>
              </a:rPr>
              <a:t>Step (예: 카드 등록 진입 / 카드정보 입력 / 본인인증 / 등록 완료)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1636" y="2697480"/>
            <a:ext cx="2644902" cy="3383280"/>
          </a:xfrm>
          <a:prstGeom prst="rect">
            <a:avLst/>
          </a:prstGeom>
          <a:solidFill>
            <a:srgbClr val="F5F6F8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31636" y="4224528"/>
            <a:ext cx="264490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919191"/>
                </a:solidFill>
                <a:latin typeface="Pretendard"/>
                <a:ea typeface="Pretendard"/>
                <a:cs typeface="Pretendard"/>
              </a:rPr>
              <a:t>[ 캡처 #3  -  이미지 첨부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6172200"/>
            <a:ext cx="264490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23075" y="6172200"/>
            <a:ext cx="246202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919191"/>
                </a:solidFill>
                <a:latin typeface="Pretendard"/>
                <a:ea typeface="Pretendard"/>
                <a:cs typeface="Pretendard"/>
              </a:rPr>
              <a:t>Step (예: 카드 등록 진입 / 카드정보 입력 / 본인인증 / 등록 완료)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50858" y="2697480"/>
            <a:ext cx="2644902" cy="3383280"/>
          </a:xfrm>
          <a:prstGeom prst="rect">
            <a:avLst/>
          </a:prstGeom>
          <a:solidFill>
            <a:srgbClr val="F5F6F8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50858" y="4224528"/>
            <a:ext cx="264490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919191"/>
                </a:solidFill>
                <a:latin typeface="Pretendard"/>
                <a:ea typeface="Pretendard"/>
                <a:cs typeface="Pretendard"/>
              </a:rPr>
              <a:t>[ 캡처 #4  -  이미지 첨부 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50858" y="6172200"/>
            <a:ext cx="264490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42298" y="6172200"/>
            <a:ext cx="246202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919191"/>
                </a:solidFill>
                <a:latin typeface="Pretendard"/>
                <a:ea typeface="Pretendard"/>
                <a:cs typeface="Pretendard"/>
              </a:rPr>
              <a:t>Step (예: 카드 등록 진입 / 카드정보 입력 / 본인인증 / 등록 완료)</a:t>
            </a:r>
          </a:p>
        </p:txBody>
      </p:sp>
      <p:pic>
        <p:nvPicPr>
          <p:cNvPr id="23" name="Picture 3" descr="logo_navy_horizontal.png">
            <a:extLst>
              <a:ext uri="{FF2B5EF4-FFF2-40B4-BE49-F238E27FC236}">
                <a16:creationId xmlns:a16="http://schemas.microsoft.com/office/drawing/2014/main" id="{96CC56ED-C0B6-A3ED-F30A-06B694EAE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7664" y="109728"/>
            <a:ext cx="1014984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265176"/>
            <a:ext cx="2057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E2137"/>
                </a:solidFill>
                <a:latin typeface="Pretendard Light"/>
                <a:ea typeface="Pretendard Light"/>
                <a:cs typeface="Pretendard Light"/>
              </a:rPr>
              <a:t>3) 마지막 결제창 (필수)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795528"/>
            <a:ext cx="1140256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결제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프로세스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마지막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단계의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결제창은</a:t>
            </a:r>
            <a:r>
              <a:rPr lang="en-US"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「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하나카드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결제창」으로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캡처해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주세요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632" y="6611112"/>
            <a:ext cx="325526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19191"/>
                </a:solidFill>
                <a:latin typeface="Pretendard Light"/>
                <a:ea typeface="Pretendard Light"/>
                <a:cs typeface="Pretendard Light"/>
              </a:rPr>
              <a:t>© Korea Payment Networks Limited All Right Reserved.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90304" y="6574536"/>
            <a:ext cx="274320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19191"/>
                </a:solidFill>
                <a:latin typeface="Pretendard Light"/>
                <a:ea typeface="Pretendard Light"/>
                <a:cs typeface="Pretendard Light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" y="2542032"/>
            <a:ext cx="11402568" cy="502920"/>
          </a:xfrm>
          <a:prstGeom prst="roundRect">
            <a:avLst>
              <a:gd name="adj" fmla="val 15000"/>
            </a:avLst>
          </a:prstGeom>
          <a:solidFill>
            <a:srgbClr val="FFF7DC"/>
          </a:solidFill>
          <a:ln w="9525">
            <a:solidFill>
              <a:srgbClr val="B071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542032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※ </a:t>
            </a:r>
            <a:r>
              <a:rPr sz="12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카드사</a:t>
            </a:r>
            <a:r>
              <a:rPr sz="12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필수</a:t>
            </a:r>
            <a:r>
              <a:rPr sz="12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요청사항</a:t>
            </a:r>
            <a:r>
              <a:rPr sz="12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 ②  —  본 </a:t>
            </a:r>
            <a:r>
              <a:rPr sz="12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페이지의</a:t>
            </a:r>
            <a:r>
              <a:rPr sz="12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캡처가</a:t>
            </a:r>
            <a:r>
              <a:rPr sz="12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누락</a:t>
            </a:r>
            <a:r>
              <a:rPr sz="12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또는</a:t>
            </a:r>
            <a:r>
              <a:rPr sz="12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부적합할</a:t>
            </a:r>
            <a:r>
              <a:rPr sz="12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경우</a:t>
            </a:r>
            <a:r>
              <a:rPr sz="12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심사</a:t>
            </a:r>
            <a:r>
              <a:rPr sz="12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반송</a:t>
            </a:r>
            <a:r>
              <a:rPr sz="12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처리됩니다</a:t>
            </a:r>
            <a:r>
              <a:rPr sz="12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" y="3246120"/>
            <a:ext cx="5564124" cy="457200"/>
          </a:xfrm>
          <a:prstGeom prst="rect">
            <a:avLst/>
          </a:prstGeom>
          <a:solidFill>
            <a:srgbClr val="0D1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3192" y="3246120"/>
            <a:ext cx="556412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 KPN PG 결제창 → 하나카드 선택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" y="3703320"/>
            <a:ext cx="5564124" cy="2560320"/>
          </a:xfrm>
          <a:prstGeom prst="rect">
            <a:avLst/>
          </a:prstGeom>
          <a:solidFill>
            <a:srgbClr val="F5F6F8"/>
          </a:solidFill>
          <a:ln w="12700">
            <a:solidFill>
              <a:srgbClr val="0D17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3192" y="4818888"/>
            <a:ext cx="556412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3246120"/>
            <a:ext cx="5564124" cy="457200"/>
          </a:xfrm>
          <a:prstGeom prst="rect">
            <a:avLst/>
          </a:prstGeom>
          <a:solidFill>
            <a:srgbClr val="0D1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31636" y="3246120"/>
            <a:ext cx="556412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 하나카드 결제창 노출 화면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1636" y="3703320"/>
            <a:ext cx="5564124" cy="2560320"/>
          </a:xfrm>
          <a:prstGeom prst="rect">
            <a:avLst/>
          </a:prstGeom>
          <a:solidFill>
            <a:srgbClr val="F5F6F8"/>
          </a:solidFill>
          <a:ln w="12700">
            <a:solidFill>
              <a:srgbClr val="0D17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31636" y="4882728"/>
            <a:ext cx="5564124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" y="6355080"/>
            <a:ext cx="79552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✓ 카드사 요청사항 :  마지막 결제창은 반드시 하나카드 결제창이 노출된 상태여야 합니다.</a:t>
            </a:r>
          </a:p>
        </p:txBody>
      </p:sp>
      <p:pic>
        <p:nvPicPr>
          <p:cNvPr id="18" name="Picture 3" descr="logo_navy_horizontal.png">
            <a:extLst>
              <a:ext uri="{FF2B5EF4-FFF2-40B4-BE49-F238E27FC236}">
                <a16:creationId xmlns:a16="http://schemas.microsoft.com/office/drawing/2014/main" id="{E0BDFCB7-D45C-BA06-402B-A57F4EEC6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7664" y="109728"/>
            <a:ext cx="1014984" cy="411480"/>
          </a:xfrm>
          <a:prstGeom prst="rect">
            <a:avLst/>
          </a:prstGeom>
        </p:spPr>
      </p:pic>
      <p:pic>
        <p:nvPicPr>
          <p:cNvPr id="19" name="Picture 18" descr="C_09_kpn_hana선택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6523" y="3749039"/>
            <a:ext cx="2012889" cy="2304288"/>
          </a:xfrm>
          <a:prstGeom prst="rect">
            <a:avLst/>
          </a:prstGeom>
        </p:spPr>
      </p:pic>
      <p:pic>
        <p:nvPicPr>
          <p:cNvPr id="20" name="Picture 19" descr="C_10_hanacard_인증창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2944" y="3749039"/>
            <a:ext cx="2746078" cy="230428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93192" y="6126480"/>
            <a:ext cx="555955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07533F"/>
                </a:solidFill>
                <a:latin typeface="Malgun Gothic"/>
              </a:rPr>
              <a:t>① KPN PG 결제창에서 「하나」 카드 선택 (2026-08-04)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6208" y="6126480"/>
            <a:ext cx="555955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07533F"/>
                </a:solidFill>
                <a:latin typeface="Malgun Gothic"/>
              </a:rPr>
              <a:t>② 하나카드 인증 결제창 — acs.hanacard.co.kr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41456-6102-A269-3E14-8A0F8319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E49490-459E-2E46-1109-D2B5E45DCC2A}"/>
              </a:ext>
            </a:extLst>
          </p:cNvPr>
          <p:cNvSpPr txBox="1"/>
          <p:nvPr/>
        </p:nvSpPr>
        <p:spPr>
          <a:xfrm>
            <a:off x="292608" y="265176"/>
            <a:ext cx="2057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 dirty="0">
                <a:solidFill>
                  <a:srgbClr val="1E2137"/>
                </a:solidFill>
                <a:latin typeface="Pretendard Light"/>
                <a:ea typeface="Pretendard Light"/>
                <a:cs typeface="Pretendard Light"/>
              </a:rPr>
              <a:t>4) </a:t>
            </a:r>
            <a:r>
              <a:rPr lang="ko-KR" altLang="en-US" sz="1000" b="0" dirty="0" err="1">
                <a:solidFill>
                  <a:srgbClr val="1E2137"/>
                </a:solidFill>
                <a:latin typeface="Pretendard Light"/>
                <a:ea typeface="Pretendard Light"/>
                <a:cs typeface="Pretendard Light"/>
              </a:rPr>
              <a:t>포트원</a:t>
            </a:r>
            <a:r>
              <a:rPr lang="ko-KR" altLang="en-US" sz="1000" b="0" dirty="0">
                <a:solidFill>
                  <a:srgbClr val="1E2137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000" b="0" dirty="0" err="1">
                <a:solidFill>
                  <a:srgbClr val="1E2137"/>
                </a:solidFill>
                <a:latin typeface="Pretendard Light"/>
                <a:ea typeface="Pretendard Light"/>
                <a:cs typeface="Pretendard Light"/>
              </a:rPr>
              <a:t>결제창</a:t>
            </a:r>
            <a:r>
              <a:rPr lang="ko-KR" altLang="en-US" sz="1000" b="0" dirty="0">
                <a:solidFill>
                  <a:srgbClr val="1E2137"/>
                </a:solidFill>
                <a:latin typeface="Pretendard Light"/>
                <a:ea typeface="Pretendard Light"/>
                <a:cs typeface="Pretendard Light"/>
              </a:rPr>
              <a:t> 노출</a:t>
            </a:r>
            <a:r>
              <a:rPr lang="en-US" altLang="ko-KR" sz="1000" b="0" dirty="0">
                <a:solidFill>
                  <a:srgbClr val="1E2137"/>
                </a:solidFill>
                <a:latin typeface="Pretendard Light"/>
                <a:ea typeface="Pretendard Light"/>
                <a:cs typeface="Pretendard Light"/>
              </a:rPr>
              <a:t>(</a:t>
            </a:r>
            <a:r>
              <a:rPr lang="ko-KR" altLang="en-US" sz="1000" b="0" dirty="0">
                <a:solidFill>
                  <a:srgbClr val="1E2137"/>
                </a:solidFill>
                <a:latin typeface="Pretendard Light"/>
                <a:ea typeface="Pretendard Light"/>
                <a:cs typeface="Pretendard Light"/>
              </a:rPr>
              <a:t>필수</a:t>
            </a:r>
            <a:r>
              <a:rPr lang="en-US" altLang="ko-KR" sz="1000" b="0">
                <a:solidFill>
                  <a:srgbClr val="1E2137"/>
                </a:solidFill>
                <a:latin typeface="Pretendard Light"/>
                <a:ea typeface="Pretendard Light"/>
                <a:cs typeface="Pretendard Light"/>
              </a:rPr>
              <a:t>)</a:t>
            </a:r>
            <a:endParaRPr sz="1000" b="0" dirty="0">
              <a:solidFill>
                <a:srgbClr val="1E2137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2179E9-A15E-3B8C-BF1B-63236CFF61F5}"/>
              </a:ext>
            </a:extLst>
          </p:cNvPr>
          <p:cNvSpPr txBox="1"/>
          <p:nvPr/>
        </p:nvSpPr>
        <p:spPr>
          <a:xfrm>
            <a:off x="393192" y="795528"/>
            <a:ext cx="1140256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실제 결제수단 선택 화면에서 버튼 클릭 시 결제창이 노출되지 않고 바로 결제 완료 화면으로 이동할 경우</a:t>
            </a:r>
            <a:r>
              <a:rPr lang="en-US" altLang="ko-KR"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심사 불가</a:t>
            </a:r>
            <a:endParaRPr sz="2000" b="1" dirty="0">
              <a:solidFill>
                <a:srgbClr val="0D174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64B05F-BD54-577C-A2CA-DAE7BA7B4D05}"/>
              </a:ext>
            </a:extLst>
          </p:cNvPr>
          <p:cNvSpPr txBox="1"/>
          <p:nvPr/>
        </p:nvSpPr>
        <p:spPr>
          <a:xfrm>
            <a:off x="8485632" y="6611112"/>
            <a:ext cx="325526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19191"/>
                </a:solidFill>
                <a:latin typeface="Pretendard Light"/>
                <a:ea typeface="Pretendard Light"/>
                <a:cs typeface="Pretendard Light"/>
              </a:rPr>
              <a:t>© Korea Payment Networks Limited All Right Reserved.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995BB2-F96A-3586-F632-C5C83B93312E}"/>
              </a:ext>
            </a:extLst>
          </p:cNvPr>
          <p:cNvSpPr txBox="1"/>
          <p:nvPr/>
        </p:nvSpPr>
        <p:spPr>
          <a:xfrm>
            <a:off x="9290304" y="6574536"/>
            <a:ext cx="27432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800" b="0" dirty="0">
                <a:solidFill>
                  <a:srgbClr val="919191"/>
                </a:solidFill>
                <a:latin typeface="Pretendard Light"/>
                <a:ea typeface="Pretendard Light"/>
                <a:cs typeface="Pretendard Light"/>
              </a:rPr>
              <a:t>10</a:t>
            </a:r>
            <a:endParaRPr sz="800" b="0" dirty="0">
              <a:solidFill>
                <a:srgbClr val="919191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91E5A83-50D9-1D24-C166-49E03623E934}"/>
              </a:ext>
            </a:extLst>
          </p:cNvPr>
          <p:cNvSpPr/>
          <p:nvPr/>
        </p:nvSpPr>
        <p:spPr>
          <a:xfrm>
            <a:off x="393192" y="1240454"/>
            <a:ext cx="11402568" cy="502920"/>
          </a:xfrm>
          <a:prstGeom prst="roundRect">
            <a:avLst>
              <a:gd name="adj" fmla="val 15000"/>
            </a:avLst>
          </a:prstGeom>
          <a:solidFill>
            <a:srgbClr val="FFF7DC"/>
          </a:solidFill>
          <a:ln w="9525">
            <a:solidFill>
              <a:srgbClr val="B071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DF1D6F-D014-9888-CFA4-32E6DEE4B979}"/>
              </a:ext>
            </a:extLst>
          </p:cNvPr>
          <p:cNvSpPr txBox="1"/>
          <p:nvPr/>
        </p:nvSpPr>
        <p:spPr>
          <a:xfrm>
            <a:off x="594360" y="1402295"/>
            <a:ext cx="109728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>
              <a:defRPr sz="1200" b="1">
                <a:solidFill>
                  <a:srgbClr val="B0711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r>
              <a:rPr dirty="0"/>
              <a:t>※ </a:t>
            </a:r>
            <a:r>
              <a:rPr lang="ko-KR" altLang="en-US" dirty="0"/>
              <a:t>포트원에 환경설정에서</a:t>
            </a:r>
            <a:r>
              <a:rPr lang="en-US" altLang="ko-KR" dirty="0"/>
              <a:t>, </a:t>
            </a:r>
            <a:r>
              <a:rPr lang="ko-KR" altLang="en-US" dirty="0"/>
              <a:t>아래 이미지와 같이 테스트 결제창으로 구현이 가능합니다</a:t>
            </a:r>
            <a:r>
              <a:rPr lang="en-US" altLang="ko-KR" dirty="0"/>
              <a:t>. </a:t>
            </a:r>
            <a:r>
              <a:rPr lang="ko-KR" altLang="en-US" dirty="0"/>
              <a:t>마지막 </a:t>
            </a:r>
            <a:r>
              <a:rPr lang="ko-KR" altLang="en-US" dirty="0" err="1"/>
              <a:t>결제창</a:t>
            </a:r>
            <a:r>
              <a:rPr lang="ko-KR" altLang="en-US" dirty="0"/>
              <a:t> 화면은</a:t>
            </a:r>
            <a:r>
              <a:rPr lang="en-US" altLang="ko-KR" dirty="0"/>
              <a:t>, </a:t>
            </a:r>
            <a:r>
              <a:rPr lang="ko-KR" altLang="en-US" dirty="0"/>
              <a:t>반드시 </a:t>
            </a:r>
            <a:r>
              <a:rPr lang="en-US" altLang="ko-KR" dirty="0"/>
              <a:t>PG</a:t>
            </a:r>
            <a:r>
              <a:rPr lang="ko-KR" altLang="en-US" dirty="0"/>
              <a:t>결제창이 정상적으로 노출되는 화면을 캡쳐 하신 후 </a:t>
            </a:r>
            <a:r>
              <a:rPr lang="ko-KR" altLang="en-US" dirty="0" err="1"/>
              <a:t>회신요망</a:t>
            </a:r>
            <a:endParaRPr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5A41B897-4573-1B9D-508D-1A679D59D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2092411"/>
            <a:ext cx="4130666" cy="4384506"/>
          </a:xfrm>
          <a:prstGeom prst="rect">
            <a:avLst/>
          </a:prstGeom>
        </p:spPr>
      </p:pic>
      <p:pic>
        <p:nvPicPr>
          <p:cNvPr id="9" name="Picture 3" descr="logo_navy_horizontal.png">
            <a:extLst>
              <a:ext uri="{FF2B5EF4-FFF2-40B4-BE49-F238E27FC236}">
                <a16:creationId xmlns:a16="http://schemas.microsoft.com/office/drawing/2014/main" id="{3586F754-3189-0541-C719-A0C398590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7664" y="109728"/>
            <a:ext cx="1014984" cy="411480"/>
          </a:xfrm>
          <a:prstGeom prst="rect">
            <a:avLst/>
          </a:prstGeom>
        </p:spPr>
      </p:pic>
      <p:pic>
        <p:nvPicPr>
          <p:cNvPr id="24" name="Picture 23" descr="C_09_kpn_hana선택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537" y="2139696"/>
            <a:ext cx="3594445" cy="4114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93192" y="6400800"/>
            <a:ext cx="413308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07533F"/>
                </a:solidFill>
                <a:latin typeface="Malgun Gothic"/>
              </a:rPr>
              <a:t>▲ KPN 안내 예시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6400800"/>
            <a:ext cx="6858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07533F"/>
                </a:solidFill>
                <a:latin typeface="Malgun Gothic"/>
              </a:rPr>
              <a:t>▲ 실제 구현 화면 — inkword.site 결제 버튼 클릭 시 KPN PG 결제창 정상 노출 (2026-08-04)</a:t>
            </a:r>
          </a:p>
        </p:txBody>
      </p:sp>
    </p:spTree>
    <p:extLst>
      <p:ext uri="{BB962C8B-B14F-4D97-AF65-F5344CB8AC3E}">
        <p14:creationId xmlns:p14="http://schemas.microsoft.com/office/powerpoint/2010/main" val="1919441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1076</Words>
  <Application>Microsoft Office PowerPoint</Application>
  <PresentationFormat>와이드스크린</PresentationFormat>
  <Paragraphs>164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7" baseType="lpstr">
      <vt:lpstr>Pretendard</vt:lpstr>
      <vt:lpstr>Pretendard ExtraBold</vt:lpstr>
      <vt:lpstr>Pretendard Light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Hyuna Kim</cp:lastModifiedBy>
  <cp:revision>4</cp:revision>
  <dcterms:created xsi:type="dcterms:W3CDTF">2013-01-27T09:14:16Z</dcterms:created>
  <dcterms:modified xsi:type="dcterms:W3CDTF">2026-05-21T03:00:04Z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Fasoo_Trace_ID" pid="2">
    <vt:lpwstr>eyAibm9kZUNvdW50IjogNCwgIm5vZGUxIiA6IHsiZHNkIjoiMDEwMDAwMDAwMDAwMzU5MyIsImxvZ1RpbWUiOiIyMDI2LTA1LTIxVDAxOjU2OjI2WiIsInBJRCI6MSwicHJvY2Vzc0lkIjoxNDczMiwicHJvY2Vzc05hbWUiOiJmX2JhdG1nci5leGUiLCJ0cmFjZUlkIjoiODQyM0NGOUZCRkQ1NDcyMjkwQzc4OTIzQjlGOTcwOTMiLCJ1c2VyQ29kZSI6ImthbmcifSwibm9kZTIiIDogeyJkc2QiOiIwMTAwMDAwMDAwMDAzNTkzIiwibG9nVGltZSI6IjIwMjYtMDUtMjFUMDE6NTY6MjZaIiwicElEIjoxLCJwcm9jZXNzSWQiOjE0NzMyLCJwcm9jZXNzTmFtZSI6ImZfYmF0bWdyLmV4ZSIsInRyYWNlSWQiOiI4NDIzQ0Y5RkJGRDU0NzIyOTBDNzg5MjNCOUY5NzA5MyIsInVzZXJDb2RlIjoia2FuZyJ9LCJub2RlMyIgOiB7ImRzZCI6IjAxMDAwMDAwMDAwMDM1OTMiLCJsb2dUaW1lIjoiMjAyNi0wNS0yMVQwMjowMjowMVoiLCJwSUQiOjEsInByb2Nlc3NJZCI6MTQ3MzIsInByb2Nlc3NOYW1lIjoiUE9XRVJQTlQuRVhFIiwidHJhY2VJZCI6IkY4OERDMjQwQjlBNTQ4NjFCNDdEMTc0QkIyNzJCRkEwIiwidXNlckNvZGUiOiJrYW5nIn0sIm5vZGU0IiA6IHsiZHNkIjoiMDEwMDAwMDAwMDAwMzU5MyIsImxvZ1RpbWUiOiIyMDI2LTA1LTIxVDAyOjExOjAxWiIsInBJRCI6MSwicHJvY2Vzc0lkIjozODA1MiwicHJvY2Vzc05hbWUiOiJQT1dFUlBOVC5FWEUiLCJ0cmFjZUlkIjoiRjQ1QzI3MDQzNDdFNEJEMEI4RDg4QURBN0UzRENBOTgiLCJ1c2VyQ29kZSI6Imh5dW5hIn0sIm5vZGU1IiA6IHsgInVzZXJDb2RlIiA6ICIiLCAidHJhY2VJZCIgOiAiMzlGOEQzODdBMTgwNENFMkY4RUY2NEM1NDMxQUU2QjIiLCAiZHNkIiA6ICIwMDAwMDAwMDAwMDAwMDAwIiwgInBJRCIgOiAiMjA0OCIsICJsb2dUaW1lIiA6ICIyMDI2LTA1LTI4VDA0OjA0OjI2WiIgfX0=</vt:lpwstr>
  </property>
</Properties>
</file>